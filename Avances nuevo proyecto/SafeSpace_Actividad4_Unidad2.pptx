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4ff77a99c00463a" /><Relationship Type="http://schemas.openxmlformats.org/officeDocument/2006/relationships/extended-properties" Target="/docProps/app.xml" Id="R746839710967420c" /><Relationship Type="http://schemas.openxmlformats.org/officeDocument/2006/relationships/officeDocument" Target="/ppt/presentation.xml" Id="Rfe2f3fb4002d447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cc1045537fc490a"/>
  </p:sldMasterIdLst>
  <p:notesMasterIdLst>
    <p:notesMasterId xmlns:r="http://schemas.openxmlformats.org/officeDocument/2006/relationships" r:id="Rc7562f763c3a4f36"/>
  </p:notesMasterIdLst>
  <p:sldIdLst>
    <p:sldId xmlns:r="http://schemas.openxmlformats.org/officeDocument/2006/relationships" id="256" r:id="Rd0dade2a711d4795"/>
    <p:sldId xmlns:r="http://schemas.openxmlformats.org/officeDocument/2006/relationships" id="257" r:id="R49e3addc87c84187"/>
    <p:sldId xmlns:r="http://schemas.openxmlformats.org/officeDocument/2006/relationships" id="258" r:id="Rea1a04c5ec0741f8"/>
    <p:sldId xmlns:r="http://schemas.openxmlformats.org/officeDocument/2006/relationships" id="259" r:id="Re50e0eabcf3348c0"/>
    <p:sldId xmlns:r="http://schemas.openxmlformats.org/officeDocument/2006/relationships" id="260" r:id="Ra46ff89db9404f76"/>
    <p:sldId xmlns:r="http://schemas.openxmlformats.org/officeDocument/2006/relationships" id="261" r:id="R4f4cceb892a54ec1"/>
    <p:sldId xmlns:r="http://schemas.openxmlformats.org/officeDocument/2006/relationships" id="262" r:id="R57c6e5ab28b5400f"/>
    <p:sldId xmlns:r="http://schemas.openxmlformats.org/officeDocument/2006/relationships" id="263" r:id="R7c95b9aeb417491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3d1e6342714420f" /><Relationship Type="http://schemas.openxmlformats.org/officeDocument/2006/relationships/slideMaster" Target="/ppt/slideMasters/slideMaster1.xml" Id="R1cc1045537fc490a" /><Relationship Type="http://schemas.openxmlformats.org/officeDocument/2006/relationships/notesMaster" Target="/ppt/notesMasters/notesMaster1.xml" Id="Rc7562f763c3a4f36" /><Relationship Type="http://schemas.openxmlformats.org/officeDocument/2006/relationships/presProps" Target="/ppt/presProps.xml" Id="Raaa6eba974814876" /><Relationship Type="http://schemas.openxmlformats.org/officeDocument/2006/relationships/tableStyles" Target="/ppt/tableStyles.xml" Id="Ref0eecae997345fb" /><Relationship Type="http://schemas.openxmlformats.org/officeDocument/2006/relationships/slide" Target="/ppt/slides/slide1.xml" Id="Rd0dade2a711d4795" /><Relationship Type="http://schemas.openxmlformats.org/officeDocument/2006/relationships/slide" Target="/ppt/slides/slide2.xml" Id="R49e3addc87c84187" /><Relationship Type="http://schemas.openxmlformats.org/officeDocument/2006/relationships/slide" Target="/ppt/slides/slide3.xml" Id="Rea1a04c5ec0741f8" /><Relationship Type="http://schemas.openxmlformats.org/officeDocument/2006/relationships/slide" Target="/ppt/slides/slide4.xml" Id="Re50e0eabcf3348c0" /><Relationship Type="http://schemas.openxmlformats.org/officeDocument/2006/relationships/slide" Target="/ppt/slides/slide5.xml" Id="Ra46ff89db9404f76" /><Relationship Type="http://schemas.openxmlformats.org/officeDocument/2006/relationships/slide" Target="/ppt/slides/slide6.xml" Id="R4f4cceb892a54ec1" /><Relationship Type="http://schemas.openxmlformats.org/officeDocument/2006/relationships/slide" Target="/ppt/slides/slide7.xml" Id="R57c6e5ab28b5400f" /><Relationship Type="http://schemas.openxmlformats.org/officeDocument/2006/relationships/slide" Target="/ppt/slides/slide8.xml" Id="R7c95b9aeb417491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5dd4838474640d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8729e0b4c7c4e11" /><Relationship Type="http://schemas.openxmlformats.org/officeDocument/2006/relationships/notesMaster" Target="/ppt/notesMasters/notesMaster1.xml" Id="Rf4c1d0071b8a44c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fd9069d6b1442d8" /><Relationship Type="http://schemas.openxmlformats.org/officeDocument/2006/relationships/notesMaster" Target="/ppt/notesMasters/notesMaster1.xml" Id="Rcb5dcdf2ad3a477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964512137d94129" /><Relationship Type="http://schemas.openxmlformats.org/officeDocument/2006/relationships/notesMaster" Target="/ppt/notesMasters/notesMaster1.xml" Id="Rd1c4d1fbc4de4c2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c0c0a6a254a428a" /><Relationship Type="http://schemas.openxmlformats.org/officeDocument/2006/relationships/notesMaster" Target="/ppt/notesMasters/notesMaster1.xml" Id="R9dd0afefc3b24f8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2442eb326db4392" /><Relationship Type="http://schemas.openxmlformats.org/officeDocument/2006/relationships/notesMaster" Target="/ppt/notesMasters/notesMaster1.xml" Id="Redf37f96e7f346c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5c6d369b8784e5c" /><Relationship Type="http://schemas.openxmlformats.org/officeDocument/2006/relationships/notesMaster" Target="/ppt/notesMasters/notesMaster1.xml" Id="R637bc1cf8b724fd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9804c4a99a747cb" /><Relationship Type="http://schemas.openxmlformats.org/officeDocument/2006/relationships/notesMaster" Target="/ppt/notesMasters/notesMaster1.xml" Id="Rad2022d5b08e45f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5af5353cb1145e6" /><Relationship Type="http://schemas.openxmlformats.org/officeDocument/2006/relationships/notesMaster" Target="/ppt/notesMasters/notesMaster1.xml" Id="Rcf182a0886ea451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Presentar SafeSpace como una propuesta escolar de acompañamiento y organización académica. Aclarar desde el inicio que se diseñó un prototipo web navegable como herramienta similar a Figma; las pantallas mostradas son capturas de ese prototipo.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Explicar que el proyecto responde a dos necesidades conectadas: sostener tareas académicas y acercarse a apoyo humano. Aclarar los límites del sistema: no diagnostica, no da tratamiento y no reemplaza emergencias.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 presentar estas características como resultados estadísticos. En la actividad anterior se definieron perfiles y necesidades preliminares, pero no se reportó una muestra real ni entrevistas realizadas. Explicar que se proponen como hipótesis y que el siguiente paso es validarlas con participantes voluntarios.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Recorrer las cinco etapas. La investigación recoge información; ideación prioriza; diseño crea flujos y pantallas; desarrollo implementa; evaluación observa si las personas completan tareas. El ciclo no es lineal: se repite cuando la evaluación revela problemas.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captura corresponde al prototipo web que se entregó en la Actividad 3. No es una pantalla exportada de Figma. Señalar la acción principal y el menú común que permite llegar a secciones con un clic.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Describir las tres funciones que corresponden al prototipo. El formulario está diseñado para demostración y no guarda ni transmite datos. El número de Línea de la Vida se conserva de la propuesta inicial; debe verificarse con fuente institucional antes de publicar. Fuente oficial: https://www.gob.mx/conasama/articulos/linea-de-la-vida-800-911-2000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Estas observaciones salen de revisar el prototipo actual; no son fallas observadas en una prueba con estudiantes. Explicar que el siguiente ciclo debería empezar con validación de las necesidades y contenido institucional, antes de ampliar funciones.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Cerrar aclarando que SafeSpace busca facilitar organización y acceso a orientación, no resolver por sí sola el abandono escolar. La versión actual permite discutir estructura y experiencia; la siguiente etapa es validar recorridos con estudiantes voluntarios y personal responsable.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05a360bb31427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f9d54319004b9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59ce41d44a4f4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edc8cd1ce1427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8140bef7964f6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07bf3b3e7a413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DCFBFFE-7EFD-4D59-BAE0-19A7AB72B91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710E699-8575-44B2-968C-C32CB4761FE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D7DCF26-6BD0-433A-B928-362B96C483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D5F6CE5-9D6C-4D0C-9FFA-030141C91FC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B13B094-CC8F-4946-BA4E-BADD5707784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E0E5A31-3408-49EC-86BB-62631A84EAC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ADF7286-66C5-4901-9BE6-339F3BA41F6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EB2C682-9249-46F5-9BD6-619C2A7E488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F452C53-4B0F-4AAC-80D4-FA2ADEC85AC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3FCEC5E-2132-4D0B-BEF0-D12812297C2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362f6bfbed04da6" /><Relationship Type="http://schemas.openxmlformats.org/officeDocument/2006/relationships/slideLayout" Target="/ppt/slideLayouts/slideLayout1.xml" Id="Rb82774e4925944f2" /><Relationship Type="http://schemas.openxmlformats.org/officeDocument/2006/relationships/slideLayout" Target="/ppt/slideLayouts/slideLayout2.xml" Id="Re8974a39166f413a" /><Relationship Type="http://schemas.openxmlformats.org/officeDocument/2006/relationships/slideLayout" Target="/ppt/slideLayouts/slideLayout3.xml" Id="Ra9b72b6ab49b407a" /><Relationship Type="http://schemas.openxmlformats.org/officeDocument/2006/relationships/slideLayout" Target="/ppt/slideLayouts/slideLayout4.xml" Id="R6c67a749f751486c" /><Relationship Type="http://schemas.openxmlformats.org/officeDocument/2006/relationships/slideLayout" Target="/ppt/slideLayouts/slideLayout5.xml" Id="Rdca3fe7de3ab4fa1" /><Relationship Type="http://schemas.openxmlformats.org/officeDocument/2006/relationships/slideLayout" Target="/ppt/slideLayouts/slideLayout6.xml" Id="R790eff7f3add4c9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82774e4925944f2"/>
    <p:sldLayoutId xmlns:r="http://schemas.openxmlformats.org/officeDocument/2006/relationships" id="2147483650" r:id="Re8974a39166f413a"/>
    <p:sldLayoutId xmlns:r="http://schemas.openxmlformats.org/officeDocument/2006/relationships" id="2147483651" r:id="Ra9b72b6ab49b407a"/>
    <p:sldLayoutId xmlns:r="http://schemas.openxmlformats.org/officeDocument/2006/relationships" id="2147483652" r:id="R6c67a749f751486c"/>
    <p:sldLayoutId xmlns:r="http://schemas.openxmlformats.org/officeDocument/2006/relationships" id="2147483653" r:id="Rdca3fe7de3ab4fa1"/>
    <p:sldLayoutId xmlns:r="http://schemas.openxmlformats.org/officeDocument/2006/relationships" id="2147483654" r:id="R790eff7f3add4c9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43e994ce15d4e64" /><Relationship Type="http://schemas.openxmlformats.org/officeDocument/2006/relationships/image" Target="/ppt/media/image.png" Id="R10d448cb4a874945" /><Relationship Type="http://schemas.openxmlformats.org/officeDocument/2006/relationships/notesSlide" Target="/ppt/notesSlides/notesSlide1.xml" Id="R89fe02865c1f417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89d09fb4aae4475" /><Relationship Type="http://schemas.openxmlformats.org/officeDocument/2006/relationships/notesSlide" Target="/ppt/notesSlides/notesSlide2.xml" Id="R2d53362043824b9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580d02f2b404b0c" /><Relationship Type="http://schemas.openxmlformats.org/officeDocument/2006/relationships/notesSlide" Target="/ppt/notesSlides/notesSlide3.xml" Id="R393a958aa54946b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d8e4a78056642ad" /><Relationship Type="http://schemas.openxmlformats.org/officeDocument/2006/relationships/notesSlide" Target="/ppt/notesSlides/notesSlide4.xml" Id="Rdb2415cd281f431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469cfbeb2cd41af" /><Relationship Type="http://schemas.openxmlformats.org/officeDocument/2006/relationships/image" Target="/ppt/media/image2.png" Id="R0511472edb4e4ff1" /><Relationship Type="http://schemas.openxmlformats.org/officeDocument/2006/relationships/notesSlide" Target="/ppt/notesSlides/notesSlide5.xml" Id="Rcf9ad95434df45d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6487fbac6634ea3" /><Relationship Type="http://schemas.openxmlformats.org/officeDocument/2006/relationships/image" Target="/ppt/media/image3.png" Id="Rd680aeaf1a794a0f" /><Relationship Type="http://schemas.openxmlformats.org/officeDocument/2006/relationships/image" Target="/ppt/media/image4.png" Id="R30ce99c2adca4778" /><Relationship Type="http://schemas.openxmlformats.org/officeDocument/2006/relationships/notesSlide" Target="/ppt/notesSlides/notesSlide6.xml" Id="Raa5825260e0d490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e8f6e44277d4c2e" /><Relationship Type="http://schemas.openxmlformats.org/officeDocument/2006/relationships/notesSlide" Target="/ppt/notesSlides/notesSlide7.xml" Id="R2d359a8ec7e14b1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95028e6fb8c4cb6" /><Relationship Type="http://schemas.openxmlformats.org/officeDocument/2006/relationships/notesSlide" Target="/ppt/notesSlides/notesSlide8.xml" Id="Reda7c6d50fa04d9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87A6A2-EC69-4353-9836-8F9D4C4CC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4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C52C94-C5E4-4D1B-B577-F4B330155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825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7645F"/>
                </a:solidFill>
                <a:latin typeface="Arial"/>
                <a:ea typeface="Arial"/>
                <a:cs typeface="Arial"/>
              </a:rPr>
              <a:t>PROYECTO ESCOLAR · PRESENTACIÓN DEL PROTOTIPO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671D79-387B-4F6B-B668-5DC21916F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4953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4800" b="1">
                <a:solidFill>
                  <a:srgbClr val="143743"/>
                </a:solidFill>
                <a:latin typeface="Arial"/>
                <a:ea typeface="Arial"/>
                <a:cs typeface="Arial"/>
              </a:defRPr>
            </a:defPPr>
            <a:lvl1pPr algn="l">
              <a:defRPr sz="4800" b="1">
                <a:solidFill>
                  <a:srgbClr val="143743"/>
                </a:solidFill>
                <a:latin typeface="Arial"/>
                <a:ea typeface="Arial"/>
                <a:cs typeface="Arial"/>
              </a:defRPr>
            </a:lvl1pPr>
            <a:lvl2pPr algn="l">
              <a:defRPr sz="4800" b="1">
                <a:solidFill>
                  <a:srgbClr val="143743"/>
                </a:solidFill>
                <a:latin typeface="Arial"/>
                <a:ea typeface="Arial"/>
                <a:cs typeface="Arial"/>
              </a:defRPr>
            </a:lvl2pPr>
            <a:lvl3pPr algn="l">
              <a:defRPr sz="4800" b="1">
                <a:solidFill>
                  <a:srgbClr val="143743"/>
                </a:solidFill>
                <a:latin typeface="Arial"/>
                <a:ea typeface="Arial"/>
                <a:cs typeface="Arial"/>
              </a:defRPr>
            </a:lvl3pPr>
            <a:lvl4pPr algn="l">
              <a:defRPr sz="4800" b="1">
                <a:solidFill>
                  <a:srgbClr val="143743"/>
                </a:solidFill>
                <a:latin typeface="Arial"/>
                <a:ea typeface="Arial"/>
                <a:cs typeface="Arial"/>
              </a:defRPr>
            </a:lvl4pPr>
            <a:lvl5pPr algn="l">
              <a:defRPr sz="4800" b="1">
                <a:solidFill>
                  <a:srgbClr val="143743"/>
                </a:solidFill>
                <a:latin typeface="Arial"/>
                <a:ea typeface="Arial"/>
                <a:cs typeface="Arial"/>
              </a:defRPr>
            </a:lvl5pPr>
            <a:lvl6pPr algn="l">
              <a:defRPr sz="4800" b="1">
                <a:solidFill>
                  <a:srgbClr val="143743"/>
                </a:solidFill>
                <a:latin typeface="Arial"/>
                <a:ea typeface="Arial"/>
                <a:cs typeface="Arial"/>
              </a:defRPr>
            </a:lvl6pPr>
            <a:lvl7pPr algn="l">
              <a:defRPr sz="4800" b="1">
                <a:solidFill>
                  <a:srgbClr val="143743"/>
                </a:solidFill>
                <a:latin typeface="Arial"/>
                <a:ea typeface="Arial"/>
                <a:cs typeface="Arial"/>
              </a:defRPr>
            </a:lvl7pPr>
            <a:lvl8pPr algn="l">
              <a:defRPr sz="4800" b="1">
                <a:solidFill>
                  <a:srgbClr val="143743"/>
                </a:solidFill>
                <a:latin typeface="Arial"/>
                <a:ea typeface="Arial"/>
                <a:cs typeface="Arial"/>
              </a:defRPr>
            </a:lvl8pPr>
            <a:lvl9pPr algn="l">
              <a:defRPr sz="4800" b="1">
                <a:solidFill>
                  <a:srgbClr val="1437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4800" b="1">
                <a:solidFill>
                  <a:srgbClr val="143743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143743"/>
                </a:solidFill>
                <a:latin typeface="Arial"/>
                <a:ea typeface="Arial"/>
                <a:cs typeface="Arial"/>
              </a:rPr>
              <a:t>SafeSpace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FD4D23-BA97-4BD1-A5FE-9E80BD9A4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33600"/>
            <a:ext cx="4857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0">
                <a:solidFill>
                  <a:srgbClr val="17645F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0">
                <a:solidFill>
                  <a:srgbClr val="17645F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0">
                <a:solidFill>
                  <a:srgbClr val="17645F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0">
                <a:solidFill>
                  <a:srgbClr val="17645F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0">
                <a:solidFill>
                  <a:srgbClr val="17645F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0">
                <a:solidFill>
                  <a:srgbClr val="17645F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0">
                <a:solidFill>
                  <a:srgbClr val="17645F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0">
                <a:solidFill>
                  <a:srgbClr val="17645F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0">
                <a:solidFill>
                  <a:srgbClr val="17645F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0">
                <a:solidFill>
                  <a:srgbClr val="1764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7645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645F"/>
                </a:solidFill>
                <a:latin typeface="Arial"/>
                <a:ea typeface="Arial"/>
                <a:cs typeface="Arial"/>
              </a:rPr>
              <a:t>Acompañamiento emocional y continuidad académica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05BF7F-D02F-4E91-8D3C-37558B679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57525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65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4ACFD0-346F-4C9A-9C5F-8BD7DC5B7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33750"/>
            <a:ext cx="4476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607572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607572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607572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607572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607572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607572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607572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607572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607572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6075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60757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07572"/>
                </a:solidFill>
                <a:latin typeface="Arial"/>
                <a:ea typeface="Arial"/>
                <a:cs typeface="Arial"/>
              </a:rPr>
              <a:t>Un sitio pensado para ayudar a estudiantes a encontrar un siguiente paso, organizar sus pendientes y acercarse a orientación.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B60552-6517-4161-926F-EEF7BE398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81625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143743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143743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143743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143743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143743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143743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143743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143743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143743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1437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14374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43743"/>
                </a:solidFill>
                <a:latin typeface="Arial"/>
                <a:ea typeface="Arial"/>
                <a:cs typeface="Arial"/>
              </a:rPr>
              <a:t>Semana 4  ·  Exposición del prototipo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8AC360-11B1-413C-AF98-0B7A62BE2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912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607572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0">
                <a:solidFill>
                  <a:srgbClr val="607572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0">
                <a:solidFill>
                  <a:srgbClr val="607572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0">
                <a:solidFill>
                  <a:srgbClr val="607572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0">
                <a:solidFill>
                  <a:srgbClr val="607572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0">
                <a:solidFill>
                  <a:srgbClr val="607572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0">
                <a:solidFill>
                  <a:srgbClr val="607572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0">
                <a:solidFill>
                  <a:srgbClr val="607572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0">
                <a:solidFill>
                  <a:srgbClr val="607572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0">
                <a:solidFill>
                  <a:srgbClr val="6075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60757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07572"/>
                </a:solidFill>
                <a:latin typeface="Arial"/>
                <a:ea typeface="Arial"/>
                <a:cs typeface="Arial"/>
              </a:rPr>
              <a:t>Equipo: ____________________     Grupo: __________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694113-227D-4BC9-B73B-78457B44007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d448cb4a87494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05500" y="1066800"/>
            <a:ext cx="5715000" cy="3571875"/>
          </a:xfrm>
          <a:prstGeom xmlns:a="http://schemas.openxmlformats.org/drawingml/2006/main" prst="roundRect">
            <a:avLst>
              <a:gd name="adj" fmla="val 3733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25AE21-635B-43A9-AA6E-1B8E45CC5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857750"/>
            <a:ext cx="4857750" cy="714375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DCEC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0A5B5B-B83C-448D-9ADB-377D1BEA6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048250"/>
            <a:ext cx="2381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825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7645F"/>
                </a:solidFill>
                <a:latin typeface="Arial"/>
                <a:ea typeface="Arial"/>
                <a:cs typeface="Arial"/>
              </a:rPr>
              <a:t>PROTOTIPO WEB RESPONSIVO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B0E293-349E-4EF6-9A2D-60BC29D45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2387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143743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143743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143743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143743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143743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143743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143743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143743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143743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1437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14374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3743"/>
                </a:solidFill>
                <a:latin typeface="Arial"/>
                <a:ea typeface="Arial"/>
                <a:cs typeface="Arial"/>
              </a:rPr>
              <a:t>Alternativa navegable a Figma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0BCB4E-295F-4F0F-BB3D-FE6886810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750" b="1">
                <a:solidFill>
                  <a:srgbClr val="81908B"/>
                </a:solidFill>
                <a:latin typeface="Arial"/>
                <a:ea typeface="Arial"/>
                <a:cs typeface="Arial"/>
              </a:defRPr>
            </a:defPPr>
            <a:lvl1pPr algn="l">
              <a:defRPr sz="750" b="1">
                <a:solidFill>
                  <a:srgbClr val="81908B"/>
                </a:solidFill>
                <a:latin typeface="Arial"/>
                <a:ea typeface="Arial"/>
                <a:cs typeface="Arial"/>
              </a:defRPr>
            </a:lvl1pPr>
            <a:lvl2pPr algn="l">
              <a:defRPr sz="750" b="1">
                <a:solidFill>
                  <a:srgbClr val="81908B"/>
                </a:solidFill>
                <a:latin typeface="Arial"/>
                <a:ea typeface="Arial"/>
                <a:cs typeface="Arial"/>
              </a:defRPr>
            </a:lvl2pPr>
            <a:lvl3pPr algn="l">
              <a:defRPr sz="750" b="1">
                <a:solidFill>
                  <a:srgbClr val="81908B"/>
                </a:solidFill>
                <a:latin typeface="Arial"/>
                <a:ea typeface="Arial"/>
                <a:cs typeface="Arial"/>
              </a:defRPr>
            </a:lvl3pPr>
            <a:lvl4pPr algn="l">
              <a:defRPr sz="750" b="1">
                <a:solidFill>
                  <a:srgbClr val="81908B"/>
                </a:solidFill>
                <a:latin typeface="Arial"/>
                <a:ea typeface="Arial"/>
                <a:cs typeface="Arial"/>
              </a:defRPr>
            </a:lvl4pPr>
            <a:lvl5pPr algn="l">
              <a:defRPr sz="750" b="1">
                <a:solidFill>
                  <a:srgbClr val="81908B"/>
                </a:solidFill>
                <a:latin typeface="Arial"/>
                <a:ea typeface="Arial"/>
                <a:cs typeface="Arial"/>
              </a:defRPr>
            </a:lvl5pPr>
            <a:lvl6pPr algn="l">
              <a:defRPr sz="750" b="1">
                <a:solidFill>
                  <a:srgbClr val="81908B"/>
                </a:solidFill>
                <a:latin typeface="Arial"/>
                <a:ea typeface="Arial"/>
                <a:cs typeface="Arial"/>
              </a:defRPr>
            </a:lvl6pPr>
            <a:lvl7pPr algn="l">
              <a:defRPr sz="750" b="1">
                <a:solidFill>
                  <a:srgbClr val="81908B"/>
                </a:solidFill>
                <a:latin typeface="Arial"/>
                <a:ea typeface="Arial"/>
                <a:cs typeface="Arial"/>
              </a:defRPr>
            </a:lvl7pPr>
            <a:lvl8pPr algn="l">
              <a:defRPr sz="750" b="1">
                <a:solidFill>
                  <a:srgbClr val="81908B"/>
                </a:solidFill>
                <a:latin typeface="Arial"/>
                <a:ea typeface="Arial"/>
                <a:cs typeface="Arial"/>
              </a:defRPr>
            </a:lvl8pPr>
            <a:lvl9pPr algn="l">
              <a:defRPr sz="750" b="1">
                <a:solidFill>
                  <a:srgbClr val="8190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750" b="1">
                <a:solidFill>
                  <a:srgbClr val="81908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81908B"/>
                </a:solidFill>
                <a:latin typeface="Arial"/>
                <a:ea typeface="Arial"/>
                <a:cs typeface="Arial"/>
              </a:rPr>
              <a:t>SAFESPACE  ·  ACTIVIDAD 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BCA7A4-F133-411D-B5CC-3C66CA427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81908B"/>
                </a:solidFill>
                <a:latin typeface="Arial"/>
                <a:ea typeface="Arial"/>
                <a:cs typeface="Arial"/>
              </a:defRPr>
            </a:defPPr>
            <a:lvl1pPr algn="r">
              <a:defRPr sz="825" b="1">
                <a:solidFill>
                  <a:srgbClr val="81908B"/>
                </a:solidFill>
                <a:latin typeface="Arial"/>
                <a:ea typeface="Arial"/>
                <a:cs typeface="Arial"/>
              </a:defRPr>
            </a:lvl1pPr>
            <a:lvl2pPr algn="r">
              <a:defRPr sz="825" b="1">
                <a:solidFill>
                  <a:srgbClr val="81908B"/>
                </a:solidFill>
                <a:latin typeface="Arial"/>
                <a:ea typeface="Arial"/>
                <a:cs typeface="Arial"/>
              </a:defRPr>
            </a:lvl2pPr>
            <a:lvl3pPr algn="r">
              <a:defRPr sz="825" b="1">
                <a:solidFill>
                  <a:srgbClr val="81908B"/>
                </a:solidFill>
                <a:latin typeface="Arial"/>
                <a:ea typeface="Arial"/>
                <a:cs typeface="Arial"/>
              </a:defRPr>
            </a:lvl3pPr>
            <a:lvl4pPr algn="r">
              <a:defRPr sz="825" b="1">
                <a:solidFill>
                  <a:srgbClr val="81908B"/>
                </a:solidFill>
                <a:latin typeface="Arial"/>
                <a:ea typeface="Arial"/>
                <a:cs typeface="Arial"/>
              </a:defRPr>
            </a:lvl4pPr>
            <a:lvl5pPr algn="r">
              <a:defRPr sz="825" b="1">
                <a:solidFill>
                  <a:srgbClr val="81908B"/>
                </a:solidFill>
                <a:latin typeface="Arial"/>
                <a:ea typeface="Arial"/>
                <a:cs typeface="Arial"/>
              </a:defRPr>
            </a:lvl5pPr>
            <a:lvl6pPr algn="r">
              <a:defRPr sz="825" b="1">
                <a:solidFill>
                  <a:srgbClr val="81908B"/>
                </a:solidFill>
                <a:latin typeface="Arial"/>
                <a:ea typeface="Arial"/>
                <a:cs typeface="Arial"/>
              </a:defRPr>
            </a:lvl6pPr>
            <a:lvl7pPr algn="r">
              <a:defRPr sz="825" b="1">
                <a:solidFill>
                  <a:srgbClr val="81908B"/>
                </a:solidFill>
                <a:latin typeface="Arial"/>
                <a:ea typeface="Arial"/>
                <a:cs typeface="Arial"/>
              </a:defRPr>
            </a:lvl7pPr>
            <a:lvl8pPr algn="r">
              <a:defRPr sz="825" b="1">
                <a:solidFill>
                  <a:srgbClr val="81908B"/>
                </a:solidFill>
                <a:latin typeface="Arial"/>
                <a:ea typeface="Arial"/>
                <a:cs typeface="Arial"/>
              </a:defRPr>
            </a:lvl8pPr>
            <a:lvl9pPr algn="r">
              <a:defRPr sz="825" b="1">
                <a:solidFill>
                  <a:srgbClr val="8190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81908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1908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78368295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788D98-C11E-4798-BEAE-5C9BAFEF1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72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825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7645F"/>
                </a:solidFill>
                <a:latin typeface="Arial"/>
                <a:ea typeface="Arial"/>
                <a:cs typeface="Arial"/>
              </a:rPr>
              <a:t>01 · PROPÓSITO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0D3E00-B08D-4C99-936E-E48728920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81050"/>
            <a:ext cx="7620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143743"/>
                </a:solidFill>
                <a:latin typeface="Arial"/>
                <a:ea typeface="Arial"/>
                <a:cs typeface="Arial"/>
              </a:defRPr>
            </a:defPPr>
            <a:lvl1pPr algn="l">
              <a:defRPr sz="2850" b="1">
                <a:solidFill>
                  <a:srgbClr val="143743"/>
                </a:solidFill>
                <a:latin typeface="Arial"/>
                <a:ea typeface="Arial"/>
                <a:cs typeface="Arial"/>
              </a:defRPr>
            </a:lvl1pPr>
            <a:lvl2pPr algn="l">
              <a:defRPr sz="2850" b="1">
                <a:solidFill>
                  <a:srgbClr val="143743"/>
                </a:solidFill>
                <a:latin typeface="Arial"/>
                <a:ea typeface="Arial"/>
                <a:cs typeface="Arial"/>
              </a:defRPr>
            </a:lvl2pPr>
            <a:lvl3pPr algn="l">
              <a:defRPr sz="2850" b="1">
                <a:solidFill>
                  <a:srgbClr val="143743"/>
                </a:solidFill>
                <a:latin typeface="Arial"/>
                <a:ea typeface="Arial"/>
                <a:cs typeface="Arial"/>
              </a:defRPr>
            </a:lvl3pPr>
            <a:lvl4pPr algn="l">
              <a:defRPr sz="2850" b="1">
                <a:solidFill>
                  <a:srgbClr val="143743"/>
                </a:solidFill>
                <a:latin typeface="Arial"/>
                <a:ea typeface="Arial"/>
                <a:cs typeface="Arial"/>
              </a:defRPr>
            </a:lvl4pPr>
            <a:lvl5pPr algn="l">
              <a:defRPr sz="2850" b="1">
                <a:solidFill>
                  <a:srgbClr val="143743"/>
                </a:solidFill>
                <a:latin typeface="Arial"/>
                <a:ea typeface="Arial"/>
                <a:cs typeface="Arial"/>
              </a:defRPr>
            </a:lvl5pPr>
            <a:lvl6pPr algn="l">
              <a:defRPr sz="2850" b="1">
                <a:solidFill>
                  <a:srgbClr val="143743"/>
                </a:solidFill>
                <a:latin typeface="Arial"/>
                <a:ea typeface="Arial"/>
                <a:cs typeface="Arial"/>
              </a:defRPr>
            </a:lvl6pPr>
            <a:lvl7pPr algn="l">
              <a:defRPr sz="2850" b="1">
                <a:solidFill>
                  <a:srgbClr val="143743"/>
                </a:solidFill>
                <a:latin typeface="Arial"/>
                <a:ea typeface="Arial"/>
                <a:cs typeface="Arial"/>
              </a:defRPr>
            </a:lvl7pPr>
            <a:lvl8pPr algn="l">
              <a:defRPr sz="2850" b="1">
                <a:solidFill>
                  <a:srgbClr val="143743"/>
                </a:solidFill>
                <a:latin typeface="Arial"/>
                <a:ea typeface="Arial"/>
                <a:cs typeface="Arial"/>
              </a:defRPr>
            </a:lvl8pPr>
            <a:lvl9pPr algn="l">
              <a:defRPr sz="2850" b="1">
                <a:solidFill>
                  <a:srgbClr val="1437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14374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43743"/>
                </a:solidFill>
                <a:latin typeface="Arial"/>
                <a:ea typeface="Arial"/>
                <a:cs typeface="Arial"/>
              </a:rPr>
              <a:t>Objetivo del proyecto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4B2A19-0552-4BB2-8656-281C9722D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14500"/>
            <a:ext cx="59055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143743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143743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143743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143743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143743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143743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143743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143743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143743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1437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4374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43743"/>
                </a:solidFill>
                <a:latin typeface="Arial"/>
                <a:ea typeface="Arial"/>
                <a:cs typeface="Arial"/>
              </a:rPr>
              <a:t>Ayudar a estudiantes de nivel medio superior que atraviesan una crisis personal a sostener su organización escolar y encontrar apoyo profesional de forma clara y voluntaria.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1AD635-4208-4FBB-B044-E8C68F06F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752850"/>
            <a:ext cx="5238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C0BC1A-F94E-4037-99F6-B09BBE4C0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00500"/>
            <a:ext cx="552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BD6544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BD6544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BD6544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BD6544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BD6544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BD6544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BD6544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BD6544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BD6544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BD65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BD654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D6544"/>
                </a:solidFill>
                <a:latin typeface="Arial"/>
                <a:ea typeface="Arial"/>
                <a:cs typeface="Arial"/>
              </a:rPr>
              <a:t>SafeSpace no diagnostica ni sustituye atención psicológica, médica o de emergencia.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CB6E09-1E43-480C-90C1-FF8539B51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1450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645F"/>
                </a:solidFill>
                <a:latin typeface="Arial"/>
                <a:ea typeface="Arial"/>
                <a:cs typeface="Arial"/>
              </a:rPr>
              <a:t>¿Qué facilita el prototipo?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47FEAE-9A2C-49D2-8360-C35357989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238375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BD6544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BD6544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BD6544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BD6544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BD6544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BD6544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BD6544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BD6544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BD6544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BD65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BD654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BD654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73F0EB-DC79-45E1-92C9-146B72FDF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238375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43743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143743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143743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143743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143743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143743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143743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143743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143743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1437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437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3743"/>
                </a:solidFill>
                <a:latin typeface="Arial"/>
                <a:ea typeface="Arial"/>
                <a:cs typeface="Arial"/>
              </a:rPr>
              <a:t>Organizar pendientes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54CC0E-4A59-4BA4-A98F-9D265753B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524125"/>
            <a:ext cx="342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607572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607572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607572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607572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607572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607572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607572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607572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607572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6075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6075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07572"/>
                </a:solidFill>
                <a:latin typeface="Arial"/>
                <a:ea typeface="Arial"/>
                <a:cs typeface="Arial"/>
              </a:rPr>
              <a:t>Tareas y pasos pequeños para retomar actividades.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3CE3E6-CE1B-4E1F-9FE5-775AEFF8A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305175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BD6544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BD6544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BD6544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BD6544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BD6544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BD6544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BD6544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BD6544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BD6544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BD65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BD654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BD654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C578CE-5C44-4500-B891-5B4B41D8D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305175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43743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143743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143743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143743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143743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143743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143743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143743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143743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1437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437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3743"/>
                </a:solidFill>
                <a:latin typeface="Arial"/>
                <a:ea typeface="Arial"/>
                <a:cs typeface="Arial"/>
              </a:rPr>
              <a:t>Encontrar orientación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8FB95D-8219-4975-8302-242FEF818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590925"/>
            <a:ext cx="342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607572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607572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607572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607572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607572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607572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607572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607572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607572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6075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6075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07572"/>
                </a:solidFill>
                <a:latin typeface="Arial"/>
                <a:ea typeface="Arial"/>
                <a:cs typeface="Arial"/>
              </a:rPr>
              <a:t>Directorio y solicitud de contacto voluntaria.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87E749-5E5E-4C4B-96A9-750B1093F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371975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BD6544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BD6544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BD6544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BD6544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BD6544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BD6544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BD6544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BD6544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BD6544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BD65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BD654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BD654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0299AC-7896-4EBB-8F5F-E3E6EBF76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371975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43743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143743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143743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143743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143743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143743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143743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143743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143743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1437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437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3743"/>
                </a:solidFill>
                <a:latin typeface="Arial"/>
                <a:ea typeface="Arial"/>
                <a:cs typeface="Arial"/>
              </a:rPr>
              <a:t>Entender opciones escolares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382E9F-FF19-42C6-B713-F23F4DDA5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657725"/>
            <a:ext cx="342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607572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607572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607572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607572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607572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607572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607572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607572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607572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6075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6075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07572"/>
                </a:solidFill>
                <a:latin typeface="Arial"/>
                <a:ea typeface="Arial"/>
                <a:cs typeface="Arial"/>
              </a:rPr>
              <a:t>Guías claras para saber a quién preguntar.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677D63-14CD-4F90-9B15-F39200F29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750" b="1">
                <a:solidFill>
                  <a:srgbClr val="81908B"/>
                </a:solidFill>
                <a:latin typeface="Arial"/>
                <a:ea typeface="Arial"/>
                <a:cs typeface="Arial"/>
              </a:defRPr>
            </a:defPPr>
            <a:lvl1pPr algn="l">
              <a:defRPr sz="750" b="1">
                <a:solidFill>
                  <a:srgbClr val="81908B"/>
                </a:solidFill>
                <a:latin typeface="Arial"/>
                <a:ea typeface="Arial"/>
                <a:cs typeface="Arial"/>
              </a:defRPr>
            </a:lvl1pPr>
            <a:lvl2pPr algn="l">
              <a:defRPr sz="750" b="1">
                <a:solidFill>
                  <a:srgbClr val="81908B"/>
                </a:solidFill>
                <a:latin typeface="Arial"/>
                <a:ea typeface="Arial"/>
                <a:cs typeface="Arial"/>
              </a:defRPr>
            </a:lvl2pPr>
            <a:lvl3pPr algn="l">
              <a:defRPr sz="750" b="1">
                <a:solidFill>
                  <a:srgbClr val="81908B"/>
                </a:solidFill>
                <a:latin typeface="Arial"/>
                <a:ea typeface="Arial"/>
                <a:cs typeface="Arial"/>
              </a:defRPr>
            </a:lvl3pPr>
            <a:lvl4pPr algn="l">
              <a:defRPr sz="750" b="1">
                <a:solidFill>
                  <a:srgbClr val="81908B"/>
                </a:solidFill>
                <a:latin typeface="Arial"/>
                <a:ea typeface="Arial"/>
                <a:cs typeface="Arial"/>
              </a:defRPr>
            </a:lvl4pPr>
            <a:lvl5pPr algn="l">
              <a:defRPr sz="750" b="1">
                <a:solidFill>
                  <a:srgbClr val="81908B"/>
                </a:solidFill>
                <a:latin typeface="Arial"/>
                <a:ea typeface="Arial"/>
                <a:cs typeface="Arial"/>
              </a:defRPr>
            </a:lvl5pPr>
            <a:lvl6pPr algn="l">
              <a:defRPr sz="750" b="1">
                <a:solidFill>
                  <a:srgbClr val="81908B"/>
                </a:solidFill>
                <a:latin typeface="Arial"/>
                <a:ea typeface="Arial"/>
                <a:cs typeface="Arial"/>
              </a:defRPr>
            </a:lvl6pPr>
            <a:lvl7pPr algn="l">
              <a:defRPr sz="750" b="1">
                <a:solidFill>
                  <a:srgbClr val="81908B"/>
                </a:solidFill>
                <a:latin typeface="Arial"/>
                <a:ea typeface="Arial"/>
                <a:cs typeface="Arial"/>
              </a:defRPr>
            </a:lvl7pPr>
            <a:lvl8pPr algn="l">
              <a:defRPr sz="750" b="1">
                <a:solidFill>
                  <a:srgbClr val="81908B"/>
                </a:solidFill>
                <a:latin typeface="Arial"/>
                <a:ea typeface="Arial"/>
                <a:cs typeface="Arial"/>
              </a:defRPr>
            </a:lvl8pPr>
            <a:lvl9pPr algn="l">
              <a:defRPr sz="750" b="1">
                <a:solidFill>
                  <a:srgbClr val="8190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750" b="1">
                <a:solidFill>
                  <a:srgbClr val="81908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81908B"/>
                </a:solidFill>
                <a:latin typeface="Arial"/>
                <a:ea typeface="Arial"/>
                <a:cs typeface="Arial"/>
              </a:rPr>
              <a:t>SAFESPACE  ·  ACTIVIDAD 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FB9EC6-6381-409A-AAB5-E3AAD35F6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81908B"/>
                </a:solidFill>
                <a:latin typeface="Arial"/>
                <a:ea typeface="Arial"/>
                <a:cs typeface="Arial"/>
              </a:defRPr>
            </a:defPPr>
            <a:lvl1pPr algn="r">
              <a:defRPr sz="825" b="1">
                <a:solidFill>
                  <a:srgbClr val="81908B"/>
                </a:solidFill>
                <a:latin typeface="Arial"/>
                <a:ea typeface="Arial"/>
                <a:cs typeface="Arial"/>
              </a:defRPr>
            </a:lvl1pPr>
            <a:lvl2pPr algn="r">
              <a:defRPr sz="825" b="1">
                <a:solidFill>
                  <a:srgbClr val="81908B"/>
                </a:solidFill>
                <a:latin typeface="Arial"/>
                <a:ea typeface="Arial"/>
                <a:cs typeface="Arial"/>
              </a:defRPr>
            </a:lvl2pPr>
            <a:lvl3pPr algn="r">
              <a:defRPr sz="825" b="1">
                <a:solidFill>
                  <a:srgbClr val="81908B"/>
                </a:solidFill>
                <a:latin typeface="Arial"/>
                <a:ea typeface="Arial"/>
                <a:cs typeface="Arial"/>
              </a:defRPr>
            </a:lvl3pPr>
            <a:lvl4pPr algn="r">
              <a:defRPr sz="825" b="1">
                <a:solidFill>
                  <a:srgbClr val="81908B"/>
                </a:solidFill>
                <a:latin typeface="Arial"/>
                <a:ea typeface="Arial"/>
                <a:cs typeface="Arial"/>
              </a:defRPr>
            </a:lvl4pPr>
            <a:lvl5pPr algn="r">
              <a:defRPr sz="825" b="1">
                <a:solidFill>
                  <a:srgbClr val="81908B"/>
                </a:solidFill>
                <a:latin typeface="Arial"/>
                <a:ea typeface="Arial"/>
                <a:cs typeface="Arial"/>
              </a:defRPr>
            </a:lvl5pPr>
            <a:lvl6pPr algn="r">
              <a:defRPr sz="825" b="1">
                <a:solidFill>
                  <a:srgbClr val="81908B"/>
                </a:solidFill>
                <a:latin typeface="Arial"/>
                <a:ea typeface="Arial"/>
                <a:cs typeface="Arial"/>
              </a:defRPr>
            </a:lvl6pPr>
            <a:lvl7pPr algn="r">
              <a:defRPr sz="825" b="1">
                <a:solidFill>
                  <a:srgbClr val="81908B"/>
                </a:solidFill>
                <a:latin typeface="Arial"/>
                <a:ea typeface="Arial"/>
                <a:cs typeface="Arial"/>
              </a:defRPr>
            </a:lvl7pPr>
            <a:lvl8pPr algn="r">
              <a:defRPr sz="825" b="1">
                <a:solidFill>
                  <a:srgbClr val="81908B"/>
                </a:solidFill>
                <a:latin typeface="Arial"/>
                <a:ea typeface="Arial"/>
                <a:cs typeface="Arial"/>
              </a:defRPr>
            </a:lvl8pPr>
            <a:lvl9pPr algn="r">
              <a:defRPr sz="825" b="1">
                <a:solidFill>
                  <a:srgbClr val="8190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81908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1908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680362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4A0B8D9-0C2F-420F-B446-568087DD5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72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825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7645F"/>
                </a:solidFill>
                <a:latin typeface="Arial"/>
                <a:ea typeface="Arial"/>
                <a:cs typeface="Arial"/>
              </a:rPr>
              <a:t>02 · INVESTIGACIÓN DEL USUARIO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737154-047B-49FF-AD79-2CAE21A09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810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143743"/>
                </a:solidFill>
                <a:latin typeface="Arial"/>
                <a:ea typeface="Arial"/>
                <a:cs typeface="Arial"/>
              </a:defRPr>
            </a:defPPr>
            <a:lvl1pPr algn="l">
              <a:defRPr sz="2700" b="1">
                <a:solidFill>
                  <a:srgbClr val="143743"/>
                </a:solidFill>
                <a:latin typeface="Arial"/>
                <a:ea typeface="Arial"/>
                <a:cs typeface="Arial"/>
              </a:defRPr>
            </a:lvl1pPr>
            <a:lvl2pPr algn="l">
              <a:defRPr sz="2700" b="1">
                <a:solidFill>
                  <a:srgbClr val="143743"/>
                </a:solidFill>
                <a:latin typeface="Arial"/>
                <a:ea typeface="Arial"/>
                <a:cs typeface="Arial"/>
              </a:defRPr>
            </a:lvl2pPr>
            <a:lvl3pPr algn="l">
              <a:defRPr sz="2700" b="1">
                <a:solidFill>
                  <a:srgbClr val="143743"/>
                </a:solidFill>
                <a:latin typeface="Arial"/>
                <a:ea typeface="Arial"/>
                <a:cs typeface="Arial"/>
              </a:defRPr>
            </a:lvl3pPr>
            <a:lvl4pPr algn="l">
              <a:defRPr sz="2700" b="1">
                <a:solidFill>
                  <a:srgbClr val="143743"/>
                </a:solidFill>
                <a:latin typeface="Arial"/>
                <a:ea typeface="Arial"/>
                <a:cs typeface="Arial"/>
              </a:defRPr>
            </a:lvl4pPr>
            <a:lvl5pPr algn="l">
              <a:defRPr sz="2700" b="1">
                <a:solidFill>
                  <a:srgbClr val="143743"/>
                </a:solidFill>
                <a:latin typeface="Arial"/>
                <a:ea typeface="Arial"/>
                <a:cs typeface="Arial"/>
              </a:defRPr>
            </a:lvl5pPr>
            <a:lvl6pPr algn="l">
              <a:defRPr sz="2700" b="1">
                <a:solidFill>
                  <a:srgbClr val="143743"/>
                </a:solidFill>
                <a:latin typeface="Arial"/>
                <a:ea typeface="Arial"/>
                <a:cs typeface="Arial"/>
              </a:defRPr>
            </a:lvl6pPr>
            <a:lvl7pPr algn="l">
              <a:defRPr sz="2700" b="1">
                <a:solidFill>
                  <a:srgbClr val="143743"/>
                </a:solidFill>
                <a:latin typeface="Arial"/>
                <a:ea typeface="Arial"/>
                <a:cs typeface="Arial"/>
              </a:defRPr>
            </a:lvl7pPr>
            <a:lvl8pPr algn="l">
              <a:defRPr sz="2700" b="1">
                <a:solidFill>
                  <a:srgbClr val="143743"/>
                </a:solidFill>
                <a:latin typeface="Arial"/>
                <a:ea typeface="Arial"/>
                <a:cs typeface="Arial"/>
              </a:defRPr>
            </a:lvl8pPr>
            <a:lvl9pPr algn="l">
              <a:defRPr sz="2700" b="1">
                <a:solidFill>
                  <a:srgbClr val="1437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4374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3743"/>
                </a:solidFill>
                <a:latin typeface="Arial"/>
                <a:ea typeface="Arial"/>
                <a:cs typeface="Arial"/>
              </a:rPr>
              <a:t>A quién diseñamos y qué necesita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FC8521-CBD3-4640-80D7-0791B922B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645F"/>
                </a:solidFill>
                <a:latin typeface="Arial"/>
                <a:ea typeface="Arial"/>
                <a:cs typeface="Arial"/>
              </a:rPr>
              <a:t>Usuario objetivo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146635-E916-44C7-B2E0-83981CE04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57400"/>
            <a:ext cx="4667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43743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143743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143743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143743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143743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143743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143743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143743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143743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1437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4374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3743"/>
                </a:solidFill>
                <a:latin typeface="Arial"/>
                <a:ea typeface="Arial"/>
                <a:cs typeface="Arial"/>
              </a:rPr>
              <a:t>Estudiantes de nivel medio superior, aproximadamente de 15 a 19 años, que viven una situación personal difícil y usan principalmente un teléfono para organizarse y buscar información.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8372A9-93B7-4FE4-B1AB-897473898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4330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645F"/>
                </a:solidFill>
                <a:latin typeface="Arial"/>
                <a:ea typeface="Arial"/>
                <a:cs typeface="Arial"/>
              </a:rPr>
              <a:t>Contexto de uso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B6A317-2D3B-4A99-966A-7496B2681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24300"/>
            <a:ext cx="4667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607572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607572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607572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607572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607572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607572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607572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607572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607572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6075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0757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7572"/>
                </a:solidFill>
                <a:latin typeface="Arial"/>
                <a:ea typeface="Arial"/>
                <a:cs typeface="Arial"/>
              </a:rPr>
              <a:t>Momentos breves en casa, transporte o plantel; posible conexión irregular y poca privacidad alrededor.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954843-A6D9-43E0-BBA9-F4FE2F04B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695450"/>
            <a:ext cx="19050" cy="3638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A09964-4C21-4386-ABA2-EC154BE1D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6573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645F"/>
                </a:solidFill>
                <a:latin typeface="Arial"/>
                <a:ea typeface="Arial"/>
                <a:cs typeface="Arial"/>
              </a:rPr>
              <a:t>Necesidades iniciales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FDA998-8F7F-4A38-8B16-59A000A17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1526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4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69DB12-EA84-4E28-8B19-8C75899C5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09800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4416B0-FB18-4AEB-A1B0-1FF3D2C20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133600"/>
            <a:ext cx="428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143743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143743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143743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143743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143743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143743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143743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143743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143743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1437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14374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43743"/>
                </a:solidFill>
                <a:latin typeface="Arial"/>
                <a:ea typeface="Arial"/>
                <a:cs typeface="Arial"/>
              </a:rPr>
              <a:t>Encontrar una acción útil sin un registro largo.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21106C-0BFD-4FC8-AF8C-40C22AED8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9908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C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1A0C6F-91BF-45EA-978A-8C0EA6EBF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048000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900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defPPr>
            <a:lvl1pPr algn="ctr">
              <a:defRPr sz="900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lvl1pPr>
            <a:lvl2pPr algn="ctr">
              <a:defRPr sz="900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lvl2pPr>
            <a:lvl3pPr algn="ctr">
              <a:defRPr sz="900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lvl3pPr>
            <a:lvl4pPr algn="ctr">
              <a:defRPr sz="900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lvl4pPr>
            <a:lvl5pPr algn="ctr">
              <a:defRPr sz="900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lvl5pPr>
            <a:lvl6pPr algn="ctr">
              <a:defRPr sz="900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lvl6pPr>
            <a:lvl7pPr algn="ctr">
              <a:defRPr sz="900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lvl7pPr>
            <a:lvl8pPr algn="ctr">
              <a:defRPr sz="900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lvl8pPr>
            <a:lvl9pPr algn="ctr">
              <a:defRPr sz="900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900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645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1951B5-74D5-4C1A-B40C-3DF4BD654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971800"/>
            <a:ext cx="428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143743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143743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143743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143743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143743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143743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143743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143743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143743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1437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14374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43743"/>
                </a:solidFill>
                <a:latin typeface="Arial"/>
                <a:ea typeface="Arial"/>
                <a:cs typeface="Arial"/>
              </a:rPr>
              <a:t>Dividir pendientes en pasos pequeños y flexibles.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B099A3-B28C-4FAD-B3C1-BB666927C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8290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C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7A42BB-F0D3-4AB0-A46B-955C4B380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886200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900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defPPr>
            <a:lvl1pPr algn="ctr">
              <a:defRPr sz="900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lvl1pPr>
            <a:lvl2pPr algn="ctr">
              <a:defRPr sz="900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lvl2pPr>
            <a:lvl3pPr algn="ctr">
              <a:defRPr sz="900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lvl3pPr>
            <a:lvl4pPr algn="ctr">
              <a:defRPr sz="900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lvl4pPr>
            <a:lvl5pPr algn="ctr">
              <a:defRPr sz="900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lvl5pPr>
            <a:lvl6pPr algn="ctr">
              <a:defRPr sz="900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lvl6pPr>
            <a:lvl7pPr algn="ctr">
              <a:defRPr sz="900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lvl7pPr>
            <a:lvl8pPr algn="ctr">
              <a:defRPr sz="900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lvl8pPr>
            <a:lvl9pPr algn="ctr">
              <a:defRPr sz="900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900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645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62CFE1-F74C-4B25-A5CD-6F7FB9921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810000"/>
            <a:ext cx="428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143743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143743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143743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143743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143743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143743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143743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143743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143743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1437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14374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43743"/>
                </a:solidFill>
                <a:latin typeface="Arial"/>
                <a:ea typeface="Arial"/>
                <a:cs typeface="Arial"/>
              </a:rPr>
              <a:t>Saber cómo contactar orientación y qué datos comparte.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17A8F6-7BD7-4BBF-8120-D95E6D6C4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6672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C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7EDEA6-501F-40BB-B98D-D15CE59A5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724400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900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defPPr>
            <a:lvl1pPr algn="ctr">
              <a:defRPr sz="900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lvl1pPr>
            <a:lvl2pPr algn="ctr">
              <a:defRPr sz="900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lvl2pPr>
            <a:lvl3pPr algn="ctr">
              <a:defRPr sz="900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lvl3pPr>
            <a:lvl4pPr algn="ctr">
              <a:defRPr sz="900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lvl4pPr>
            <a:lvl5pPr algn="ctr">
              <a:defRPr sz="900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lvl5pPr>
            <a:lvl6pPr algn="ctr">
              <a:defRPr sz="900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lvl6pPr>
            <a:lvl7pPr algn="ctr">
              <a:defRPr sz="900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lvl7pPr>
            <a:lvl8pPr algn="ctr">
              <a:defRPr sz="900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lvl8pPr>
            <a:lvl9pPr algn="ctr">
              <a:defRPr sz="900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900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645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8285BE-770D-4358-AC67-52B4E4E28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648200"/>
            <a:ext cx="428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143743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143743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143743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143743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143743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143743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143743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143743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143743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1437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14374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43743"/>
                </a:solidFill>
                <a:latin typeface="Arial"/>
                <a:ea typeface="Arial"/>
                <a:cs typeface="Arial"/>
              </a:rPr>
              <a:t>Consultar recursos claros sin sentirse vigilado.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8F855A-3296-455C-937D-EFA607705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86375"/>
            <a:ext cx="10668000" cy="714375"/>
          </a:xfrm>
          <a:prstGeom xmlns:a="http://schemas.openxmlformats.org/drawingml/2006/main" prst="roundRect">
            <a:avLst>
              <a:gd name="adj" fmla="val 18667"/>
            </a:avLst>
          </a:prstGeom>
          <a:solidFill xmlns:a="http://schemas.openxmlformats.org/drawingml/2006/main">
            <a:srgbClr val="F0E9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155B8F-8D3A-4419-BAE5-707ECEA9E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457825"/>
            <a:ext cx="1238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750" b="1">
                <a:solidFill>
                  <a:srgbClr val="BD6544"/>
                </a:solidFill>
                <a:latin typeface="Arial"/>
                <a:ea typeface="Arial"/>
                <a:cs typeface="Arial"/>
              </a:defRPr>
            </a:defPPr>
            <a:lvl1pPr algn="l">
              <a:defRPr sz="750" b="1">
                <a:solidFill>
                  <a:srgbClr val="BD6544"/>
                </a:solidFill>
                <a:latin typeface="Arial"/>
                <a:ea typeface="Arial"/>
                <a:cs typeface="Arial"/>
              </a:defRPr>
            </a:lvl1pPr>
            <a:lvl2pPr algn="l">
              <a:defRPr sz="750" b="1">
                <a:solidFill>
                  <a:srgbClr val="BD6544"/>
                </a:solidFill>
                <a:latin typeface="Arial"/>
                <a:ea typeface="Arial"/>
                <a:cs typeface="Arial"/>
              </a:defRPr>
            </a:lvl2pPr>
            <a:lvl3pPr algn="l">
              <a:defRPr sz="750" b="1">
                <a:solidFill>
                  <a:srgbClr val="BD6544"/>
                </a:solidFill>
                <a:latin typeface="Arial"/>
                <a:ea typeface="Arial"/>
                <a:cs typeface="Arial"/>
              </a:defRPr>
            </a:lvl3pPr>
            <a:lvl4pPr algn="l">
              <a:defRPr sz="750" b="1">
                <a:solidFill>
                  <a:srgbClr val="BD6544"/>
                </a:solidFill>
                <a:latin typeface="Arial"/>
                <a:ea typeface="Arial"/>
                <a:cs typeface="Arial"/>
              </a:defRPr>
            </a:lvl4pPr>
            <a:lvl5pPr algn="l">
              <a:defRPr sz="750" b="1">
                <a:solidFill>
                  <a:srgbClr val="BD6544"/>
                </a:solidFill>
                <a:latin typeface="Arial"/>
                <a:ea typeface="Arial"/>
                <a:cs typeface="Arial"/>
              </a:defRPr>
            </a:lvl5pPr>
            <a:lvl6pPr algn="l">
              <a:defRPr sz="750" b="1">
                <a:solidFill>
                  <a:srgbClr val="BD6544"/>
                </a:solidFill>
                <a:latin typeface="Arial"/>
                <a:ea typeface="Arial"/>
                <a:cs typeface="Arial"/>
              </a:defRPr>
            </a:lvl6pPr>
            <a:lvl7pPr algn="l">
              <a:defRPr sz="750" b="1">
                <a:solidFill>
                  <a:srgbClr val="BD6544"/>
                </a:solidFill>
                <a:latin typeface="Arial"/>
                <a:ea typeface="Arial"/>
                <a:cs typeface="Arial"/>
              </a:defRPr>
            </a:lvl7pPr>
            <a:lvl8pPr algn="l">
              <a:defRPr sz="750" b="1">
                <a:solidFill>
                  <a:srgbClr val="BD6544"/>
                </a:solidFill>
                <a:latin typeface="Arial"/>
                <a:ea typeface="Arial"/>
                <a:cs typeface="Arial"/>
              </a:defRPr>
            </a:lvl8pPr>
            <a:lvl9pPr algn="l">
              <a:defRPr sz="750" b="1">
                <a:solidFill>
                  <a:srgbClr val="BD65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750" b="1">
                <a:solidFill>
                  <a:srgbClr val="BD6544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BD6544"/>
                </a:solidFill>
                <a:latin typeface="Arial"/>
                <a:ea typeface="Arial"/>
                <a:cs typeface="Arial"/>
              </a:rPr>
              <a:t>IMPORTANTE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699CAEF-845D-4708-9CAE-93813600B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4102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143743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143743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143743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143743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143743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143743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143743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143743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143743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1437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14374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43743"/>
                </a:solidFill>
                <a:latin typeface="Arial"/>
                <a:ea typeface="Arial"/>
                <a:cs typeface="Arial"/>
              </a:rPr>
              <a:t>Son hipótesis tomadas de la Actividad 2; falta validarlas con estudiantes. No se levantaron resultados de entrevistas o encuestas.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58A2C16-0878-43AF-B742-7719A8EA7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750" b="1">
                <a:solidFill>
                  <a:srgbClr val="81908B"/>
                </a:solidFill>
                <a:latin typeface="Arial"/>
                <a:ea typeface="Arial"/>
                <a:cs typeface="Arial"/>
              </a:defRPr>
            </a:defPPr>
            <a:lvl1pPr algn="l">
              <a:defRPr sz="750" b="1">
                <a:solidFill>
                  <a:srgbClr val="81908B"/>
                </a:solidFill>
                <a:latin typeface="Arial"/>
                <a:ea typeface="Arial"/>
                <a:cs typeface="Arial"/>
              </a:defRPr>
            </a:lvl1pPr>
            <a:lvl2pPr algn="l">
              <a:defRPr sz="750" b="1">
                <a:solidFill>
                  <a:srgbClr val="81908B"/>
                </a:solidFill>
                <a:latin typeface="Arial"/>
                <a:ea typeface="Arial"/>
                <a:cs typeface="Arial"/>
              </a:defRPr>
            </a:lvl2pPr>
            <a:lvl3pPr algn="l">
              <a:defRPr sz="750" b="1">
                <a:solidFill>
                  <a:srgbClr val="81908B"/>
                </a:solidFill>
                <a:latin typeface="Arial"/>
                <a:ea typeface="Arial"/>
                <a:cs typeface="Arial"/>
              </a:defRPr>
            </a:lvl3pPr>
            <a:lvl4pPr algn="l">
              <a:defRPr sz="750" b="1">
                <a:solidFill>
                  <a:srgbClr val="81908B"/>
                </a:solidFill>
                <a:latin typeface="Arial"/>
                <a:ea typeface="Arial"/>
                <a:cs typeface="Arial"/>
              </a:defRPr>
            </a:lvl4pPr>
            <a:lvl5pPr algn="l">
              <a:defRPr sz="750" b="1">
                <a:solidFill>
                  <a:srgbClr val="81908B"/>
                </a:solidFill>
                <a:latin typeface="Arial"/>
                <a:ea typeface="Arial"/>
                <a:cs typeface="Arial"/>
              </a:defRPr>
            </a:lvl5pPr>
            <a:lvl6pPr algn="l">
              <a:defRPr sz="750" b="1">
                <a:solidFill>
                  <a:srgbClr val="81908B"/>
                </a:solidFill>
                <a:latin typeface="Arial"/>
                <a:ea typeface="Arial"/>
                <a:cs typeface="Arial"/>
              </a:defRPr>
            </a:lvl6pPr>
            <a:lvl7pPr algn="l">
              <a:defRPr sz="750" b="1">
                <a:solidFill>
                  <a:srgbClr val="81908B"/>
                </a:solidFill>
                <a:latin typeface="Arial"/>
                <a:ea typeface="Arial"/>
                <a:cs typeface="Arial"/>
              </a:defRPr>
            </a:lvl7pPr>
            <a:lvl8pPr algn="l">
              <a:defRPr sz="750" b="1">
                <a:solidFill>
                  <a:srgbClr val="81908B"/>
                </a:solidFill>
                <a:latin typeface="Arial"/>
                <a:ea typeface="Arial"/>
                <a:cs typeface="Arial"/>
              </a:defRPr>
            </a:lvl8pPr>
            <a:lvl9pPr algn="l">
              <a:defRPr sz="750" b="1">
                <a:solidFill>
                  <a:srgbClr val="8190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750" b="1">
                <a:solidFill>
                  <a:srgbClr val="81908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81908B"/>
                </a:solidFill>
                <a:latin typeface="Arial"/>
                <a:ea typeface="Arial"/>
                <a:cs typeface="Arial"/>
              </a:rPr>
              <a:t>SAFESPACE  ·  ACTIVIDAD 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257E665-A822-46BE-BDD4-3DEB2E28D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81908B"/>
                </a:solidFill>
                <a:latin typeface="Arial"/>
                <a:ea typeface="Arial"/>
                <a:cs typeface="Arial"/>
              </a:defRPr>
            </a:defPPr>
            <a:lvl1pPr algn="r">
              <a:defRPr sz="825" b="1">
                <a:solidFill>
                  <a:srgbClr val="81908B"/>
                </a:solidFill>
                <a:latin typeface="Arial"/>
                <a:ea typeface="Arial"/>
                <a:cs typeface="Arial"/>
              </a:defRPr>
            </a:lvl1pPr>
            <a:lvl2pPr algn="r">
              <a:defRPr sz="825" b="1">
                <a:solidFill>
                  <a:srgbClr val="81908B"/>
                </a:solidFill>
                <a:latin typeface="Arial"/>
                <a:ea typeface="Arial"/>
                <a:cs typeface="Arial"/>
              </a:defRPr>
            </a:lvl2pPr>
            <a:lvl3pPr algn="r">
              <a:defRPr sz="825" b="1">
                <a:solidFill>
                  <a:srgbClr val="81908B"/>
                </a:solidFill>
                <a:latin typeface="Arial"/>
                <a:ea typeface="Arial"/>
                <a:cs typeface="Arial"/>
              </a:defRPr>
            </a:lvl3pPr>
            <a:lvl4pPr algn="r">
              <a:defRPr sz="825" b="1">
                <a:solidFill>
                  <a:srgbClr val="81908B"/>
                </a:solidFill>
                <a:latin typeface="Arial"/>
                <a:ea typeface="Arial"/>
                <a:cs typeface="Arial"/>
              </a:defRPr>
            </a:lvl4pPr>
            <a:lvl5pPr algn="r">
              <a:defRPr sz="825" b="1">
                <a:solidFill>
                  <a:srgbClr val="81908B"/>
                </a:solidFill>
                <a:latin typeface="Arial"/>
                <a:ea typeface="Arial"/>
                <a:cs typeface="Arial"/>
              </a:defRPr>
            </a:lvl5pPr>
            <a:lvl6pPr algn="r">
              <a:defRPr sz="825" b="1">
                <a:solidFill>
                  <a:srgbClr val="81908B"/>
                </a:solidFill>
                <a:latin typeface="Arial"/>
                <a:ea typeface="Arial"/>
                <a:cs typeface="Arial"/>
              </a:defRPr>
            </a:lvl6pPr>
            <a:lvl7pPr algn="r">
              <a:defRPr sz="825" b="1">
                <a:solidFill>
                  <a:srgbClr val="81908B"/>
                </a:solidFill>
                <a:latin typeface="Arial"/>
                <a:ea typeface="Arial"/>
                <a:cs typeface="Arial"/>
              </a:defRPr>
            </a:lvl7pPr>
            <a:lvl8pPr algn="r">
              <a:defRPr sz="825" b="1">
                <a:solidFill>
                  <a:srgbClr val="81908B"/>
                </a:solidFill>
                <a:latin typeface="Arial"/>
                <a:ea typeface="Arial"/>
                <a:cs typeface="Arial"/>
              </a:defRPr>
            </a:lvl8pPr>
            <a:lvl9pPr algn="r">
              <a:defRPr sz="825" b="1">
                <a:solidFill>
                  <a:srgbClr val="8190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81908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1908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93324357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2333F10-C010-4C4F-B8E3-FBA3F674B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72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825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7645F"/>
                </a:solidFill>
                <a:latin typeface="Arial"/>
                <a:ea typeface="Arial"/>
                <a:cs typeface="Arial"/>
              </a:rPr>
              <a:t>03 · DISEÑO CENTRADO EN EL USUARIO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441BB5-2441-46ED-B8BD-6F1FCA9E8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8105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143743"/>
                </a:solidFill>
                <a:latin typeface="Arial"/>
                <a:ea typeface="Arial"/>
                <a:cs typeface="Arial"/>
              </a:defRPr>
            </a:defPPr>
            <a:lvl1pPr algn="l">
              <a:defRPr sz="2700" b="1">
                <a:solidFill>
                  <a:srgbClr val="143743"/>
                </a:solidFill>
                <a:latin typeface="Arial"/>
                <a:ea typeface="Arial"/>
                <a:cs typeface="Arial"/>
              </a:defRPr>
            </a:lvl1pPr>
            <a:lvl2pPr algn="l">
              <a:defRPr sz="2700" b="1">
                <a:solidFill>
                  <a:srgbClr val="143743"/>
                </a:solidFill>
                <a:latin typeface="Arial"/>
                <a:ea typeface="Arial"/>
                <a:cs typeface="Arial"/>
              </a:defRPr>
            </a:lvl2pPr>
            <a:lvl3pPr algn="l">
              <a:defRPr sz="2700" b="1">
                <a:solidFill>
                  <a:srgbClr val="143743"/>
                </a:solidFill>
                <a:latin typeface="Arial"/>
                <a:ea typeface="Arial"/>
                <a:cs typeface="Arial"/>
              </a:defRPr>
            </a:lvl3pPr>
            <a:lvl4pPr algn="l">
              <a:defRPr sz="2700" b="1">
                <a:solidFill>
                  <a:srgbClr val="143743"/>
                </a:solidFill>
                <a:latin typeface="Arial"/>
                <a:ea typeface="Arial"/>
                <a:cs typeface="Arial"/>
              </a:defRPr>
            </a:lvl4pPr>
            <a:lvl5pPr algn="l">
              <a:defRPr sz="2700" b="1">
                <a:solidFill>
                  <a:srgbClr val="143743"/>
                </a:solidFill>
                <a:latin typeface="Arial"/>
                <a:ea typeface="Arial"/>
                <a:cs typeface="Arial"/>
              </a:defRPr>
            </a:lvl5pPr>
            <a:lvl6pPr algn="l">
              <a:defRPr sz="2700" b="1">
                <a:solidFill>
                  <a:srgbClr val="143743"/>
                </a:solidFill>
                <a:latin typeface="Arial"/>
                <a:ea typeface="Arial"/>
                <a:cs typeface="Arial"/>
              </a:defRPr>
            </a:lvl6pPr>
            <a:lvl7pPr algn="l">
              <a:defRPr sz="2700" b="1">
                <a:solidFill>
                  <a:srgbClr val="143743"/>
                </a:solidFill>
                <a:latin typeface="Arial"/>
                <a:ea typeface="Arial"/>
                <a:cs typeface="Arial"/>
              </a:defRPr>
            </a:lvl7pPr>
            <a:lvl8pPr algn="l">
              <a:defRPr sz="2700" b="1">
                <a:solidFill>
                  <a:srgbClr val="143743"/>
                </a:solidFill>
                <a:latin typeface="Arial"/>
                <a:ea typeface="Arial"/>
                <a:cs typeface="Arial"/>
              </a:defRPr>
            </a:lvl8pPr>
            <a:lvl9pPr algn="l">
              <a:defRPr sz="2700" b="1">
                <a:solidFill>
                  <a:srgbClr val="1437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4374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3743"/>
                </a:solidFill>
                <a:latin typeface="Arial"/>
                <a:ea typeface="Arial"/>
                <a:cs typeface="Arial"/>
              </a:rPr>
              <a:t>Cinco etapas aplicadas a SafeSpace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D89978-2309-46A7-B375-538B3D037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71600"/>
            <a:ext cx="1028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607572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607572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607572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607572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607572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607572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607572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607572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607572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6075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0757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7572"/>
                </a:solidFill>
                <a:latin typeface="Arial"/>
                <a:ea typeface="Arial"/>
                <a:cs typeface="Arial"/>
              </a:rPr>
              <a:t>El proceso parte de las tareas y el contexto del estudiante, y vuelve a la evaluación para corregir el diseño.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1C7A36-5B01-404D-A51F-BE1FC57AB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47900"/>
            <a:ext cx="2057400" cy="2428875"/>
          </a:xfrm>
          <a:prstGeom xmlns:a="http://schemas.openxmlformats.org/drawingml/2006/main" prst="roundRect">
            <a:avLst>
              <a:gd name="adj" fmla="val 6481"/>
            </a:avLst>
          </a:prstGeom>
          <a:solidFill xmlns:a="http://schemas.openxmlformats.org/drawingml/2006/main">
            <a:srgbClr val="DCECE5"/>
          </a:solidFill>
          <a:ln xmlns:a="http://schemas.openxmlformats.org/drawingml/2006/main" w="9525">
            <a:solidFill>
              <a:srgbClr val="D9E1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CBBE7A-1F4E-487E-9DD0-059517290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193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4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B30B62-FADD-45D6-AE3F-323D4401E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14600"/>
            <a:ext cx="3619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5B4E69-FD4C-40DC-B5E1-FC9A756BB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718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43743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143743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143743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143743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143743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143743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143743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143743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143743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1437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4374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43743"/>
                </a:solidFill>
                <a:latin typeface="Arial"/>
                <a:ea typeface="Arial"/>
                <a:cs typeface="Arial"/>
              </a:rPr>
              <a:t>Investigación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784CDF-4D6B-4975-94E4-70982D5E8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81375"/>
            <a:ext cx="1714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607572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607572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607572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607572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607572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607572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607572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607572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607572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6075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0757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07572"/>
                </a:solidFill>
                <a:latin typeface="Arial"/>
                <a:ea typeface="Arial"/>
                <a:cs typeface="Arial"/>
              </a:rPr>
              <a:t>Entrevistas y encuesta voluntaria; revisar tareas y contexto.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A673A2-263E-4DD5-9365-EB5567ECA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3352800"/>
            <a:ext cx="200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575" b="1">
                <a:solidFill>
                  <a:srgbClr val="BD6544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1">
                <a:solidFill>
                  <a:srgbClr val="BD6544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1">
                <a:solidFill>
                  <a:srgbClr val="BD6544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1">
                <a:solidFill>
                  <a:srgbClr val="BD6544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1">
                <a:solidFill>
                  <a:srgbClr val="BD6544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1">
                <a:solidFill>
                  <a:srgbClr val="BD6544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1">
                <a:solidFill>
                  <a:srgbClr val="BD6544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1">
                <a:solidFill>
                  <a:srgbClr val="BD6544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1">
                <a:solidFill>
                  <a:srgbClr val="BD6544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1">
                <a:solidFill>
                  <a:srgbClr val="BD65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BD654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BD6544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5535E1-7A3D-443F-A73D-000145701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247900"/>
            <a:ext cx="2057400" cy="2428875"/>
          </a:xfrm>
          <a:prstGeom xmlns:a="http://schemas.openxmlformats.org/drawingml/2006/main" prst="roundRect">
            <a:avLst>
              <a:gd name="adj" fmla="val 6481"/>
            </a:avLst>
          </a:prstGeom>
          <a:solidFill xmlns:a="http://schemas.openxmlformats.org/drawingml/2006/main">
            <a:srgbClr val="F7F7F2"/>
          </a:solidFill>
          <a:ln xmlns:a="http://schemas.openxmlformats.org/drawingml/2006/main" w="9525">
            <a:solidFill>
              <a:srgbClr val="D9E1D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091BE5-32B7-4C8A-8882-D29B31BE4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4193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4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21C198-359D-4282-9755-DD58A0BF4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514600"/>
            <a:ext cx="3619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EFABC0-7288-4BAD-A4AE-12AF2D83B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9718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43743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143743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143743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143743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143743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143743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143743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143743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143743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1437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4374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43743"/>
                </a:solidFill>
                <a:latin typeface="Arial"/>
                <a:ea typeface="Arial"/>
                <a:cs typeface="Arial"/>
              </a:rPr>
              <a:t>Ideación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C3BBD8-AAAD-492B-A26E-3FBADDDAC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381375"/>
            <a:ext cx="1714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607572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607572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607572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607572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607572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607572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607572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607572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607572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6075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0757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07572"/>
                </a:solidFill>
                <a:latin typeface="Arial"/>
                <a:ea typeface="Arial"/>
                <a:cs typeface="Arial"/>
              </a:rPr>
              <a:t>Priorizar agenda, orientación y guías como funciones centrales.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4B10E9-E179-4852-98B9-D059B1213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3352800"/>
            <a:ext cx="200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575" b="1">
                <a:solidFill>
                  <a:srgbClr val="BD6544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1">
                <a:solidFill>
                  <a:srgbClr val="BD6544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1">
                <a:solidFill>
                  <a:srgbClr val="BD6544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1">
                <a:solidFill>
                  <a:srgbClr val="BD6544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1">
                <a:solidFill>
                  <a:srgbClr val="BD6544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1">
                <a:solidFill>
                  <a:srgbClr val="BD6544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1">
                <a:solidFill>
                  <a:srgbClr val="BD6544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1">
                <a:solidFill>
                  <a:srgbClr val="BD6544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1">
                <a:solidFill>
                  <a:srgbClr val="BD6544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1">
                <a:solidFill>
                  <a:srgbClr val="BD65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BD654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BD6544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7EDE1D-B395-478E-A7E5-8B626611E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247900"/>
            <a:ext cx="2057400" cy="2428875"/>
          </a:xfrm>
          <a:prstGeom xmlns:a="http://schemas.openxmlformats.org/drawingml/2006/main" prst="roundRect">
            <a:avLst>
              <a:gd name="adj" fmla="val 6481"/>
            </a:avLst>
          </a:prstGeom>
          <a:solidFill xmlns:a="http://schemas.openxmlformats.org/drawingml/2006/main">
            <a:srgbClr val="F7F7F2"/>
          </a:solidFill>
          <a:ln xmlns:a="http://schemas.openxmlformats.org/drawingml/2006/main" w="9525">
            <a:solidFill>
              <a:srgbClr val="D9E1D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5E4A24-E9F7-4299-96F8-76A7F6D06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193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4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AFE693-664C-40F3-86ED-ABC0B79FC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514600"/>
            <a:ext cx="3619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73DD67-DFF8-4E1F-AD99-8BC86F815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9718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43743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143743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143743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143743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143743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143743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143743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143743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143743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1437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4374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43743"/>
                </a:solidFill>
                <a:latin typeface="Arial"/>
                <a:ea typeface="Arial"/>
                <a:cs typeface="Arial"/>
              </a:rPr>
              <a:t>Diseño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40A033-3458-4383-94A7-A9D6F8135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381375"/>
            <a:ext cx="1714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607572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607572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607572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607572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607572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607572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607572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607572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607572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6075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0757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07572"/>
                </a:solidFill>
                <a:latin typeface="Arial"/>
                <a:ea typeface="Arial"/>
                <a:cs typeface="Arial"/>
              </a:rPr>
              <a:t>Probar recorridos y pantallas antes de programar.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2E5E12-7015-45D5-9FFF-32C5A1762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352800"/>
            <a:ext cx="200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575" b="1">
                <a:solidFill>
                  <a:srgbClr val="BD6544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1">
                <a:solidFill>
                  <a:srgbClr val="BD6544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1">
                <a:solidFill>
                  <a:srgbClr val="BD6544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1">
                <a:solidFill>
                  <a:srgbClr val="BD6544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1">
                <a:solidFill>
                  <a:srgbClr val="BD6544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1">
                <a:solidFill>
                  <a:srgbClr val="BD6544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1">
                <a:solidFill>
                  <a:srgbClr val="BD6544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1">
                <a:solidFill>
                  <a:srgbClr val="BD6544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1">
                <a:solidFill>
                  <a:srgbClr val="BD6544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1">
                <a:solidFill>
                  <a:srgbClr val="BD65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BD654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BD6544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1CA95A-BC9D-408D-B042-1F6BC0631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247900"/>
            <a:ext cx="2057400" cy="2428875"/>
          </a:xfrm>
          <a:prstGeom xmlns:a="http://schemas.openxmlformats.org/drawingml/2006/main" prst="roundRect">
            <a:avLst>
              <a:gd name="adj" fmla="val 6481"/>
            </a:avLst>
          </a:prstGeom>
          <a:solidFill xmlns:a="http://schemas.openxmlformats.org/drawingml/2006/main">
            <a:srgbClr val="F7F7F2"/>
          </a:solidFill>
          <a:ln xmlns:a="http://schemas.openxmlformats.org/drawingml/2006/main" w="9525">
            <a:solidFill>
              <a:srgbClr val="D9E1D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4C3DA1-A3CE-4B32-AB2B-CA98353A3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4193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4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8515D98-203A-4BE3-8E1E-B614F3C8B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514600"/>
            <a:ext cx="3619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A7A9C38-F17F-4188-B76B-911D759BA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9718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43743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143743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143743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143743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143743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143743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143743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143743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143743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1437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4374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43743"/>
                </a:solidFill>
                <a:latin typeface="Arial"/>
                <a:ea typeface="Arial"/>
                <a:cs typeface="Arial"/>
              </a:rPr>
              <a:t>Desarrollo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D8E2C0F-32FA-42C8-A138-89E632420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381375"/>
            <a:ext cx="1714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607572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607572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607572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607572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607572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607572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607572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607572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607572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6075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0757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07572"/>
                </a:solidFill>
                <a:latin typeface="Arial"/>
                <a:ea typeface="Arial"/>
                <a:cs typeface="Arial"/>
              </a:rPr>
              <a:t>Construir el prototipo y conectar datos según el alcance.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7397807-8918-4F8B-92D7-D0CD17A10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3352800"/>
            <a:ext cx="200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575" b="1">
                <a:solidFill>
                  <a:srgbClr val="BD6544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1">
                <a:solidFill>
                  <a:srgbClr val="BD6544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1">
                <a:solidFill>
                  <a:srgbClr val="BD6544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1">
                <a:solidFill>
                  <a:srgbClr val="BD6544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1">
                <a:solidFill>
                  <a:srgbClr val="BD6544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1">
                <a:solidFill>
                  <a:srgbClr val="BD6544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1">
                <a:solidFill>
                  <a:srgbClr val="BD6544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1">
                <a:solidFill>
                  <a:srgbClr val="BD6544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1">
                <a:solidFill>
                  <a:srgbClr val="BD6544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1">
                <a:solidFill>
                  <a:srgbClr val="BD65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BD654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BD6544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3D6F72A-22FF-416A-BF43-931F100FA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247900"/>
            <a:ext cx="2057400" cy="2428875"/>
          </a:xfrm>
          <a:prstGeom xmlns:a="http://schemas.openxmlformats.org/drawingml/2006/main" prst="roundRect">
            <a:avLst>
              <a:gd name="adj" fmla="val 6481"/>
            </a:avLst>
          </a:prstGeom>
          <a:solidFill xmlns:a="http://schemas.openxmlformats.org/drawingml/2006/main">
            <a:srgbClr val="F7F7F2"/>
          </a:solidFill>
          <a:ln xmlns:a="http://schemas.openxmlformats.org/drawingml/2006/main" w="9525">
            <a:solidFill>
              <a:srgbClr val="D9E1D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7E97B13-3C7A-4667-AC07-308740770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4193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D65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6784506-DD96-445F-8B32-72838FE57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514600"/>
            <a:ext cx="3619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F0087CB-6850-4D11-9B05-4DA3359AC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9718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43743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143743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143743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143743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143743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143743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143743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143743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143743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1437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4374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43743"/>
                </a:solidFill>
                <a:latin typeface="Arial"/>
                <a:ea typeface="Arial"/>
                <a:cs typeface="Arial"/>
              </a:rPr>
              <a:t>Evaluación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5DE2D9F-2585-409A-A903-DA944F755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381375"/>
            <a:ext cx="1714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607572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607572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607572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607572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607572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607572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607572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607572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607572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6075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0757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07572"/>
                </a:solidFill>
                <a:latin typeface="Arial"/>
                <a:ea typeface="Arial"/>
                <a:cs typeface="Arial"/>
              </a:rPr>
              <a:t>Observar tareas, dudas, accesibilidad y confianza.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E5A6D99-BB3F-4B7B-9FAF-8035A30B7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1816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645F"/>
                </a:solidFill>
                <a:latin typeface="Arial"/>
                <a:ea typeface="Arial"/>
                <a:cs typeface="Arial"/>
              </a:rPr>
              <a:t>La evaluación vuelve a informar la investigación y una nueva versión del diseño.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18CBC8F-D124-4177-AF32-F506128E9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5638800"/>
            <a:ext cx="7620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65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E497C9C-C72D-4192-BA97-A80832D35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743575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825" b="1">
                <a:solidFill>
                  <a:srgbClr val="BD6544"/>
                </a:solidFill>
                <a:latin typeface="Arial"/>
                <a:ea typeface="Arial"/>
                <a:cs typeface="Arial"/>
              </a:defRPr>
            </a:defPPr>
            <a:lvl1pPr algn="ctr">
              <a:defRPr sz="825" b="1">
                <a:solidFill>
                  <a:srgbClr val="BD6544"/>
                </a:solidFill>
                <a:latin typeface="Arial"/>
                <a:ea typeface="Arial"/>
                <a:cs typeface="Arial"/>
              </a:defRPr>
            </a:lvl1pPr>
            <a:lvl2pPr algn="ctr">
              <a:defRPr sz="825" b="1">
                <a:solidFill>
                  <a:srgbClr val="BD6544"/>
                </a:solidFill>
                <a:latin typeface="Arial"/>
                <a:ea typeface="Arial"/>
                <a:cs typeface="Arial"/>
              </a:defRPr>
            </a:lvl2pPr>
            <a:lvl3pPr algn="ctr">
              <a:defRPr sz="825" b="1">
                <a:solidFill>
                  <a:srgbClr val="BD6544"/>
                </a:solidFill>
                <a:latin typeface="Arial"/>
                <a:ea typeface="Arial"/>
                <a:cs typeface="Arial"/>
              </a:defRPr>
            </a:lvl3pPr>
            <a:lvl4pPr algn="ctr">
              <a:defRPr sz="825" b="1">
                <a:solidFill>
                  <a:srgbClr val="BD6544"/>
                </a:solidFill>
                <a:latin typeface="Arial"/>
                <a:ea typeface="Arial"/>
                <a:cs typeface="Arial"/>
              </a:defRPr>
            </a:lvl4pPr>
            <a:lvl5pPr algn="ctr">
              <a:defRPr sz="825" b="1">
                <a:solidFill>
                  <a:srgbClr val="BD6544"/>
                </a:solidFill>
                <a:latin typeface="Arial"/>
                <a:ea typeface="Arial"/>
                <a:cs typeface="Arial"/>
              </a:defRPr>
            </a:lvl5pPr>
            <a:lvl6pPr algn="ctr">
              <a:defRPr sz="825" b="1">
                <a:solidFill>
                  <a:srgbClr val="BD6544"/>
                </a:solidFill>
                <a:latin typeface="Arial"/>
                <a:ea typeface="Arial"/>
                <a:cs typeface="Arial"/>
              </a:defRPr>
            </a:lvl6pPr>
            <a:lvl7pPr algn="ctr">
              <a:defRPr sz="825" b="1">
                <a:solidFill>
                  <a:srgbClr val="BD6544"/>
                </a:solidFill>
                <a:latin typeface="Arial"/>
                <a:ea typeface="Arial"/>
                <a:cs typeface="Arial"/>
              </a:defRPr>
            </a:lvl7pPr>
            <a:lvl8pPr algn="ctr">
              <a:defRPr sz="825" b="1">
                <a:solidFill>
                  <a:srgbClr val="BD6544"/>
                </a:solidFill>
                <a:latin typeface="Arial"/>
                <a:ea typeface="Arial"/>
                <a:cs typeface="Arial"/>
              </a:defRPr>
            </a:lvl8pPr>
            <a:lvl9pPr algn="ctr">
              <a:defRPr sz="825" b="1">
                <a:solidFill>
                  <a:srgbClr val="BD65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825" b="1">
                <a:solidFill>
                  <a:srgbClr val="BD6544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BD6544"/>
                </a:solidFill>
                <a:latin typeface="Arial"/>
                <a:ea typeface="Arial"/>
                <a:cs typeface="Arial"/>
              </a:rPr>
              <a:t>ITERAR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2C5CAF3-859C-4B45-B400-802DDCD0B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750" b="1">
                <a:solidFill>
                  <a:srgbClr val="81908B"/>
                </a:solidFill>
                <a:latin typeface="Arial"/>
                <a:ea typeface="Arial"/>
                <a:cs typeface="Arial"/>
              </a:defRPr>
            </a:defPPr>
            <a:lvl1pPr algn="l">
              <a:defRPr sz="750" b="1">
                <a:solidFill>
                  <a:srgbClr val="81908B"/>
                </a:solidFill>
                <a:latin typeface="Arial"/>
                <a:ea typeface="Arial"/>
                <a:cs typeface="Arial"/>
              </a:defRPr>
            </a:lvl1pPr>
            <a:lvl2pPr algn="l">
              <a:defRPr sz="750" b="1">
                <a:solidFill>
                  <a:srgbClr val="81908B"/>
                </a:solidFill>
                <a:latin typeface="Arial"/>
                <a:ea typeface="Arial"/>
                <a:cs typeface="Arial"/>
              </a:defRPr>
            </a:lvl2pPr>
            <a:lvl3pPr algn="l">
              <a:defRPr sz="750" b="1">
                <a:solidFill>
                  <a:srgbClr val="81908B"/>
                </a:solidFill>
                <a:latin typeface="Arial"/>
                <a:ea typeface="Arial"/>
                <a:cs typeface="Arial"/>
              </a:defRPr>
            </a:lvl3pPr>
            <a:lvl4pPr algn="l">
              <a:defRPr sz="750" b="1">
                <a:solidFill>
                  <a:srgbClr val="81908B"/>
                </a:solidFill>
                <a:latin typeface="Arial"/>
                <a:ea typeface="Arial"/>
                <a:cs typeface="Arial"/>
              </a:defRPr>
            </a:lvl4pPr>
            <a:lvl5pPr algn="l">
              <a:defRPr sz="750" b="1">
                <a:solidFill>
                  <a:srgbClr val="81908B"/>
                </a:solidFill>
                <a:latin typeface="Arial"/>
                <a:ea typeface="Arial"/>
                <a:cs typeface="Arial"/>
              </a:defRPr>
            </a:lvl5pPr>
            <a:lvl6pPr algn="l">
              <a:defRPr sz="750" b="1">
                <a:solidFill>
                  <a:srgbClr val="81908B"/>
                </a:solidFill>
                <a:latin typeface="Arial"/>
                <a:ea typeface="Arial"/>
                <a:cs typeface="Arial"/>
              </a:defRPr>
            </a:lvl6pPr>
            <a:lvl7pPr algn="l">
              <a:defRPr sz="750" b="1">
                <a:solidFill>
                  <a:srgbClr val="81908B"/>
                </a:solidFill>
                <a:latin typeface="Arial"/>
                <a:ea typeface="Arial"/>
                <a:cs typeface="Arial"/>
              </a:defRPr>
            </a:lvl7pPr>
            <a:lvl8pPr algn="l">
              <a:defRPr sz="750" b="1">
                <a:solidFill>
                  <a:srgbClr val="81908B"/>
                </a:solidFill>
                <a:latin typeface="Arial"/>
                <a:ea typeface="Arial"/>
                <a:cs typeface="Arial"/>
              </a:defRPr>
            </a:lvl8pPr>
            <a:lvl9pPr algn="l">
              <a:defRPr sz="750" b="1">
                <a:solidFill>
                  <a:srgbClr val="8190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750" b="1">
                <a:solidFill>
                  <a:srgbClr val="81908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81908B"/>
                </a:solidFill>
                <a:latin typeface="Arial"/>
                <a:ea typeface="Arial"/>
                <a:cs typeface="Arial"/>
              </a:rPr>
              <a:t>SAFESPACE  ·  ACTIVIDAD 4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F2B2336-817C-4AE0-A267-15C0C84BB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81908B"/>
                </a:solidFill>
                <a:latin typeface="Arial"/>
                <a:ea typeface="Arial"/>
                <a:cs typeface="Arial"/>
              </a:defRPr>
            </a:defPPr>
            <a:lvl1pPr algn="r">
              <a:defRPr sz="825" b="1">
                <a:solidFill>
                  <a:srgbClr val="81908B"/>
                </a:solidFill>
                <a:latin typeface="Arial"/>
                <a:ea typeface="Arial"/>
                <a:cs typeface="Arial"/>
              </a:defRPr>
            </a:lvl1pPr>
            <a:lvl2pPr algn="r">
              <a:defRPr sz="825" b="1">
                <a:solidFill>
                  <a:srgbClr val="81908B"/>
                </a:solidFill>
                <a:latin typeface="Arial"/>
                <a:ea typeface="Arial"/>
                <a:cs typeface="Arial"/>
              </a:defRPr>
            </a:lvl2pPr>
            <a:lvl3pPr algn="r">
              <a:defRPr sz="825" b="1">
                <a:solidFill>
                  <a:srgbClr val="81908B"/>
                </a:solidFill>
                <a:latin typeface="Arial"/>
                <a:ea typeface="Arial"/>
                <a:cs typeface="Arial"/>
              </a:defRPr>
            </a:lvl3pPr>
            <a:lvl4pPr algn="r">
              <a:defRPr sz="825" b="1">
                <a:solidFill>
                  <a:srgbClr val="81908B"/>
                </a:solidFill>
                <a:latin typeface="Arial"/>
                <a:ea typeface="Arial"/>
                <a:cs typeface="Arial"/>
              </a:defRPr>
            </a:lvl4pPr>
            <a:lvl5pPr algn="r">
              <a:defRPr sz="825" b="1">
                <a:solidFill>
                  <a:srgbClr val="81908B"/>
                </a:solidFill>
                <a:latin typeface="Arial"/>
                <a:ea typeface="Arial"/>
                <a:cs typeface="Arial"/>
              </a:defRPr>
            </a:lvl5pPr>
            <a:lvl6pPr algn="r">
              <a:defRPr sz="825" b="1">
                <a:solidFill>
                  <a:srgbClr val="81908B"/>
                </a:solidFill>
                <a:latin typeface="Arial"/>
                <a:ea typeface="Arial"/>
                <a:cs typeface="Arial"/>
              </a:defRPr>
            </a:lvl6pPr>
            <a:lvl7pPr algn="r">
              <a:defRPr sz="825" b="1">
                <a:solidFill>
                  <a:srgbClr val="81908B"/>
                </a:solidFill>
                <a:latin typeface="Arial"/>
                <a:ea typeface="Arial"/>
                <a:cs typeface="Arial"/>
              </a:defRPr>
            </a:lvl7pPr>
            <a:lvl8pPr algn="r">
              <a:defRPr sz="825" b="1">
                <a:solidFill>
                  <a:srgbClr val="81908B"/>
                </a:solidFill>
                <a:latin typeface="Arial"/>
                <a:ea typeface="Arial"/>
                <a:cs typeface="Arial"/>
              </a:defRPr>
            </a:lvl8pPr>
            <a:lvl9pPr algn="r">
              <a:defRPr sz="825" b="1">
                <a:solidFill>
                  <a:srgbClr val="8190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81908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1908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98755663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3E0C7B-D36E-43F2-876B-7979DE69F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72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825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7645F"/>
                </a:solidFill>
                <a:latin typeface="Arial"/>
                <a:ea typeface="Arial"/>
                <a:cs typeface="Arial"/>
              </a:rPr>
              <a:t>04 · CAPTURA DEL PROTOTIPO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1D3893-E3F2-4A15-A694-A160D0B07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8105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43743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143743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143743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143743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143743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143743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143743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143743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143743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1437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437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3743"/>
                </a:solidFill>
                <a:latin typeface="Arial"/>
                <a:ea typeface="Arial"/>
                <a:cs typeface="Arial"/>
              </a:rPr>
              <a:t>Inicio: una acción principal visible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0FF43B-541F-4B60-8611-892D04EAE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0492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607572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607572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607572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607572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607572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607572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607572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607572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607572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6075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0757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07572"/>
                </a:solidFill>
                <a:latin typeface="Arial"/>
                <a:ea typeface="Arial"/>
                <a:cs typeface="Arial"/>
              </a:rPr>
              <a:t>La portada dirige a organización, orientación y guías desde una navegación breve.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12148B-4E47-4B7F-AE39-E8D49F3EB04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11472edb4e4ff1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1809750"/>
            <a:ext cx="6953250" cy="4343400"/>
          </a:xfrm>
          <a:prstGeom xmlns:a="http://schemas.openxmlformats.org/drawingml/2006/main" prst="roundRect">
            <a:avLst>
              <a:gd name="adj" fmla="val 3070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4AE375-2F92-4546-A13D-90B5899B9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00250"/>
            <a:ext cx="3143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645F"/>
                </a:solidFill>
                <a:latin typeface="Arial"/>
                <a:ea typeface="Arial"/>
                <a:cs typeface="Arial"/>
              </a:rPr>
              <a:t>Qué mostramos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7DC55E-B90E-4263-9215-C95D11964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28875"/>
            <a:ext cx="33337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143743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143743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143743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143743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143743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143743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143743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143743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143743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1437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14374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43743"/>
                </a:solidFill>
                <a:latin typeface="Arial"/>
                <a:ea typeface="Arial"/>
                <a:cs typeface="Arial"/>
              </a:rPr>
              <a:t>• Un mensaje corto y acogedor</a:t>
            </a:r>
          </a:p>
          <a:p xmlns:a="http://schemas.openxmlformats.org/drawingml/2006/main">
            <a:pPr algn="l">
              <a:defRPr sz="1275" b="0">
                <a:solidFill>
                  <a:srgbClr val="14374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43743"/>
                </a:solidFill>
                <a:latin typeface="Arial"/>
                <a:ea typeface="Arial"/>
                <a:cs typeface="Arial"/>
              </a:rPr>
              <a:t>• Botón principal: “Encontrar un primer paso”</a:t>
            </a:r>
          </a:p>
          <a:p xmlns:a="http://schemas.openxmlformats.org/drawingml/2006/main">
            <a:pPr algn="l">
              <a:defRPr sz="1275" b="0">
                <a:solidFill>
                  <a:srgbClr val="14374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43743"/>
                </a:solidFill>
                <a:latin typeface="Arial"/>
                <a:ea typeface="Arial"/>
                <a:cs typeface="Arial"/>
              </a:rPr>
              <a:t>• Menú fijo con Inicio, Nosotros, Servicios y Contacto</a:t>
            </a:r>
          </a:p>
          <a:p xmlns:a="http://schemas.openxmlformats.org/drawingml/2006/main">
            <a:pPr algn="l">
              <a:defRPr sz="1275" b="0">
                <a:solidFill>
                  <a:srgbClr val="14374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43743"/>
                </a:solidFill>
                <a:latin typeface="Arial"/>
                <a:ea typeface="Arial"/>
                <a:cs typeface="Arial"/>
              </a:rPr>
              <a:t>• Paleta crema, verde azulado y acento durazno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D66370-E5E1-45F7-8F11-63475AA66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667250"/>
            <a:ext cx="3190875" cy="1066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DCEC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3B65F1-C171-44C4-991F-6C029862F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857750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825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7645F"/>
                </a:solidFill>
                <a:latin typeface="Arial"/>
                <a:ea typeface="Arial"/>
                <a:cs typeface="Arial"/>
              </a:rPr>
              <a:t>Decisión UX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6977B2-B7BE-4BAA-B236-11AAFB992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105400"/>
            <a:ext cx="276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143743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143743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143743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143743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143743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143743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143743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143743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143743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1437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14374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3743"/>
                </a:solidFill>
                <a:latin typeface="Arial"/>
                <a:ea typeface="Arial"/>
                <a:cs typeface="Arial"/>
              </a:rPr>
              <a:t>La función principal se reconoce sin tener que explorar todo el sitio.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FB14CE-8149-4F47-9621-C44BC59DA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750" b="1">
                <a:solidFill>
                  <a:srgbClr val="81908B"/>
                </a:solidFill>
                <a:latin typeface="Arial"/>
                <a:ea typeface="Arial"/>
                <a:cs typeface="Arial"/>
              </a:defRPr>
            </a:defPPr>
            <a:lvl1pPr algn="l">
              <a:defRPr sz="750" b="1">
                <a:solidFill>
                  <a:srgbClr val="81908B"/>
                </a:solidFill>
                <a:latin typeface="Arial"/>
                <a:ea typeface="Arial"/>
                <a:cs typeface="Arial"/>
              </a:defRPr>
            </a:lvl1pPr>
            <a:lvl2pPr algn="l">
              <a:defRPr sz="750" b="1">
                <a:solidFill>
                  <a:srgbClr val="81908B"/>
                </a:solidFill>
                <a:latin typeface="Arial"/>
                <a:ea typeface="Arial"/>
                <a:cs typeface="Arial"/>
              </a:defRPr>
            </a:lvl2pPr>
            <a:lvl3pPr algn="l">
              <a:defRPr sz="750" b="1">
                <a:solidFill>
                  <a:srgbClr val="81908B"/>
                </a:solidFill>
                <a:latin typeface="Arial"/>
                <a:ea typeface="Arial"/>
                <a:cs typeface="Arial"/>
              </a:defRPr>
            </a:lvl3pPr>
            <a:lvl4pPr algn="l">
              <a:defRPr sz="750" b="1">
                <a:solidFill>
                  <a:srgbClr val="81908B"/>
                </a:solidFill>
                <a:latin typeface="Arial"/>
                <a:ea typeface="Arial"/>
                <a:cs typeface="Arial"/>
              </a:defRPr>
            </a:lvl4pPr>
            <a:lvl5pPr algn="l">
              <a:defRPr sz="750" b="1">
                <a:solidFill>
                  <a:srgbClr val="81908B"/>
                </a:solidFill>
                <a:latin typeface="Arial"/>
                <a:ea typeface="Arial"/>
                <a:cs typeface="Arial"/>
              </a:defRPr>
            </a:lvl5pPr>
            <a:lvl6pPr algn="l">
              <a:defRPr sz="750" b="1">
                <a:solidFill>
                  <a:srgbClr val="81908B"/>
                </a:solidFill>
                <a:latin typeface="Arial"/>
                <a:ea typeface="Arial"/>
                <a:cs typeface="Arial"/>
              </a:defRPr>
            </a:lvl6pPr>
            <a:lvl7pPr algn="l">
              <a:defRPr sz="750" b="1">
                <a:solidFill>
                  <a:srgbClr val="81908B"/>
                </a:solidFill>
                <a:latin typeface="Arial"/>
                <a:ea typeface="Arial"/>
                <a:cs typeface="Arial"/>
              </a:defRPr>
            </a:lvl7pPr>
            <a:lvl8pPr algn="l">
              <a:defRPr sz="750" b="1">
                <a:solidFill>
                  <a:srgbClr val="81908B"/>
                </a:solidFill>
                <a:latin typeface="Arial"/>
                <a:ea typeface="Arial"/>
                <a:cs typeface="Arial"/>
              </a:defRPr>
            </a:lvl8pPr>
            <a:lvl9pPr algn="l">
              <a:defRPr sz="750" b="1">
                <a:solidFill>
                  <a:srgbClr val="8190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750" b="1">
                <a:solidFill>
                  <a:srgbClr val="81908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81908B"/>
                </a:solidFill>
                <a:latin typeface="Arial"/>
                <a:ea typeface="Arial"/>
                <a:cs typeface="Arial"/>
              </a:rPr>
              <a:t>SAFESPACE  ·  ACTIVIDAD 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EE2176-1E29-4198-91FD-432905475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81908B"/>
                </a:solidFill>
                <a:latin typeface="Arial"/>
                <a:ea typeface="Arial"/>
                <a:cs typeface="Arial"/>
              </a:defRPr>
            </a:defPPr>
            <a:lvl1pPr algn="r">
              <a:defRPr sz="825" b="1">
                <a:solidFill>
                  <a:srgbClr val="81908B"/>
                </a:solidFill>
                <a:latin typeface="Arial"/>
                <a:ea typeface="Arial"/>
                <a:cs typeface="Arial"/>
              </a:defRPr>
            </a:lvl1pPr>
            <a:lvl2pPr algn="r">
              <a:defRPr sz="825" b="1">
                <a:solidFill>
                  <a:srgbClr val="81908B"/>
                </a:solidFill>
                <a:latin typeface="Arial"/>
                <a:ea typeface="Arial"/>
                <a:cs typeface="Arial"/>
              </a:defRPr>
            </a:lvl2pPr>
            <a:lvl3pPr algn="r">
              <a:defRPr sz="825" b="1">
                <a:solidFill>
                  <a:srgbClr val="81908B"/>
                </a:solidFill>
                <a:latin typeface="Arial"/>
                <a:ea typeface="Arial"/>
                <a:cs typeface="Arial"/>
              </a:defRPr>
            </a:lvl3pPr>
            <a:lvl4pPr algn="r">
              <a:defRPr sz="825" b="1">
                <a:solidFill>
                  <a:srgbClr val="81908B"/>
                </a:solidFill>
                <a:latin typeface="Arial"/>
                <a:ea typeface="Arial"/>
                <a:cs typeface="Arial"/>
              </a:defRPr>
            </a:lvl4pPr>
            <a:lvl5pPr algn="r">
              <a:defRPr sz="825" b="1">
                <a:solidFill>
                  <a:srgbClr val="81908B"/>
                </a:solidFill>
                <a:latin typeface="Arial"/>
                <a:ea typeface="Arial"/>
                <a:cs typeface="Arial"/>
              </a:defRPr>
            </a:lvl5pPr>
            <a:lvl6pPr algn="r">
              <a:defRPr sz="825" b="1">
                <a:solidFill>
                  <a:srgbClr val="81908B"/>
                </a:solidFill>
                <a:latin typeface="Arial"/>
                <a:ea typeface="Arial"/>
                <a:cs typeface="Arial"/>
              </a:defRPr>
            </a:lvl6pPr>
            <a:lvl7pPr algn="r">
              <a:defRPr sz="825" b="1">
                <a:solidFill>
                  <a:srgbClr val="81908B"/>
                </a:solidFill>
                <a:latin typeface="Arial"/>
                <a:ea typeface="Arial"/>
                <a:cs typeface="Arial"/>
              </a:defRPr>
            </a:lvl7pPr>
            <a:lvl8pPr algn="r">
              <a:defRPr sz="825" b="1">
                <a:solidFill>
                  <a:srgbClr val="81908B"/>
                </a:solidFill>
                <a:latin typeface="Arial"/>
                <a:ea typeface="Arial"/>
                <a:cs typeface="Arial"/>
              </a:defRPr>
            </a:lvl8pPr>
            <a:lvl9pPr algn="r">
              <a:defRPr sz="825" b="1">
                <a:solidFill>
                  <a:srgbClr val="8190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81908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1908B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95265085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6F185B-8CE4-4442-BA4C-21E1E1FC2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72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825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7645F"/>
                </a:solidFill>
                <a:latin typeface="Arial"/>
                <a:ea typeface="Arial"/>
                <a:cs typeface="Arial"/>
              </a:rPr>
              <a:t>05 · CAPTURAS DEL PROTOTIPO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E38BAF-D3F4-4109-B336-588580317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8105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143743"/>
                </a:solidFill>
                <a:latin typeface="Arial"/>
                <a:ea typeface="Arial"/>
                <a:cs typeface="Arial"/>
              </a:defRPr>
            </a:defPPr>
            <a:lvl1pPr algn="l">
              <a:defRPr sz="2700" b="1">
                <a:solidFill>
                  <a:srgbClr val="143743"/>
                </a:solidFill>
                <a:latin typeface="Arial"/>
                <a:ea typeface="Arial"/>
                <a:cs typeface="Arial"/>
              </a:defRPr>
            </a:lvl1pPr>
            <a:lvl2pPr algn="l">
              <a:defRPr sz="2700" b="1">
                <a:solidFill>
                  <a:srgbClr val="143743"/>
                </a:solidFill>
                <a:latin typeface="Arial"/>
                <a:ea typeface="Arial"/>
                <a:cs typeface="Arial"/>
              </a:defRPr>
            </a:lvl2pPr>
            <a:lvl3pPr algn="l">
              <a:defRPr sz="2700" b="1">
                <a:solidFill>
                  <a:srgbClr val="143743"/>
                </a:solidFill>
                <a:latin typeface="Arial"/>
                <a:ea typeface="Arial"/>
                <a:cs typeface="Arial"/>
              </a:defRPr>
            </a:lvl3pPr>
            <a:lvl4pPr algn="l">
              <a:defRPr sz="2700" b="1">
                <a:solidFill>
                  <a:srgbClr val="143743"/>
                </a:solidFill>
                <a:latin typeface="Arial"/>
                <a:ea typeface="Arial"/>
                <a:cs typeface="Arial"/>
              </a:defRPr>
            </a:lvl4pPr>
            <a:lvl5pPr algn="l">
              <a:defRPr sz="2700" b="1">
                <a:solidFill>
                  <a:srgbClr val="143743"/>
                </a:solidFill>
                <a:latin typeface="Arial"/>
                <a:ea typeface="Arial"/>
                <a:cs typeface="Arial"/>
              </a:defRPr>
            </a:lvl5pPr>
            <a:lvl6pPr algn="l">
              <a:defRPr sz="2700" b="1">
                <a:solidFill>
                  <a:srgbClr val="143743"/>
                </a:solidFill>
                <a:latin typeface="Arial"/>
                <a:ea typeface="Arial"/>
                <a:cs typeface="Arial"/>
              </a:defRPr>
            </a:lvl6pPr>
            <a:lvl7pPr algn="l">
              <a:defRPr sz="2700" b="1">
                <a:solidFill>
                  <a:srgbClr val="143743"/>
                </a:solidFill>
                <a:latin typeface="Arial"/>
                <a:ea typeface="Arial"/>
                <a:cs typeface="Arial"/>
              </a:defRPr>
            </a:lvl7pPr>
            <a:lvl8pPr algn="l">
              <a:defRPr sz="2700" b="1">
                <a:solidFill>
                  <a:srgbClr val="143743"/>
                </a:solidFill>
                <a:latin typeface="Arial"/>
                <a:ea typeface="Arial"/>
                <a:cs typeface="Arial"/>
              </a:defRPr>
            </a:lvl8pPr>
            <a:lvl9pPr algn="l">
              <a:defRPr sz="2700" b="1">
                <a:solidFill>
                  <a:srgbClr val="1437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4374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3743"/>
                </a:solidFill>
                <a:latin typeface="Arial"/>
                <a:ea typeface="Arial"/>
                <a:cs typeface="Arial"/>
              </a:rPr>
              <a:t>Servicios y contacto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311161-3906-40FB-9103-8F5FC7DF722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80aeaf1a794a0f"/>
          <a:srcRect xmlns:a="http://schemas.openxmlformats.org/drawingml/2006/main" l="36" t="0" r="3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1524000"/>
            <a:ext cx="5238750" cy="3276600"/>
          </a:xfrm>
          <a:prstGeom xmlns:a="http://schemas.openxmlformats.org/drawingml/2006/main" prst="roundRect">
            <a:avLst>
              <a:gd name="adj" fmla="val 4070"/>
            </a:avLst>
          </a:prstGeom>
        </p:spPr>
      </p:pic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20B1DC-B485-490F-B4F7-C7AA9F572A2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ce99c2adca4778"/>
          <a:srcRect xmlns:a="http://schemas.openxmlformats.org/drawingml/2006/main" l="36" t="0" r="3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81750" y="1524000"/>
            <a:ext cx="5238750" cy="3276600"/>
          </a:xfrm>
          <a:prstGeom xmlns:a="http://schemas.openxmlformats.org/drawingml/2006/main" prst="roundRect">
            <a:avLst>
              <a:gd name="adj" fmla="val 4070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225C91-4B8D-4F2C-8FFD-BC5BE0068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911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645F"/>
                </a:solidFill>
                <a:latin typeface="Arial"/>
                <a:ea typeface="Arial"/>
                <a:cs typeface="Arial"/>
              </a:rPr>
              <a:t>Servicios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B2306B-CDDE-4B9E-8863-9F42957E9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86375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607572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607572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607572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607572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607572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607572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607572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607572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607572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6075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0757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07572"/>
                </a:solidFill>
                <a:latin typeface="Arial"/>
                <a:ea typeface="Arial"/>
                <a:cs typeface="Arial"/>
              </a:rPr>
              <a:t>Tres rutas: organizar tareas, localizar orientación y consultar guías escolares.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840298-66EC-49F1-9D81-127A5DB4C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9911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645F"/>
                </a:solidFill>
                <a:latin typeface="Arial"/>
                <a:ea typeface="Arial"/>
                <a:cs typeface="Arial"/>
              </a:rPr>
              <a:t>Contacto y apoyo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0FF4B1-9579-4982-B424-7E32D1B69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286375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607572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607572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607572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607572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607572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607572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607572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607572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607572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6075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0757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07572"/>
                </a:solidFill>
                <a:latin typeface="Arial"/>
                <a:ea typeface="Arial"/>
                <a:cs typeface="Arial"/>
              </a:rPr>
              <a:t>Formulario demostrativo sin envío de datos y salida telefónica de ayuda.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6F84B5-F5E0-4185-9047-9F32A5F30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00750"/>
            <a:ext cx="11049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0E9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9660B5-DC3F-4525-999B-2DB70819F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7695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BD6544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BD6544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BD6544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BD6544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BD6544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BD6544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BD6544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BD6544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BD6544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BD65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BD6544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BD6544"/>
                </a:solidFill>
                <a:latin typeface="Arial"/>
                <a:ea typeface="Arial"/>
                <a:cs typeface="Arial"/>
              </a:rPr>
              <a:t>La app no ofrece atención de emergencia en tiempo real. Verificar directorios y protocolos antes de uso real.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6EC889-48CD-405B-A9B2-9062D247C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750" b="1">
                <a:solidFill>
                  <a:srgbClr val="81908B"/>
                </a:solidFill>
                <a:latin typeface="Arial"/>
                <a:ea typeface="Arial"/>
                <a:cs typeface="Arial"/>
              </a:defRPr>
            </a:defPPr>
            <a:lvl1pPr algn="l">
              <a:defRPr sz="750" b="1">
                <a:solidFill>
                  <a:srgbClr val="81908B"/>
                </a:solidFill>
                <a:latin typeface="Arial"/>
                <a:ea typeface="Arial"/>
                <a:cs typeface="Arial"/>
              </a:defRPr>
            </a:lvl1pPr>
            <a:lvl2pPr algn="l">
              <a:defRPr sz="750" b="1">
                <a:solidFill>
                  <a:srgbClr val="81908B"/>
                </a:solidFill>
                <a:latin typeface="Arial"/>
                <a:ea typeface="Arial"/>
                <a:cs typeface="Arial"/>
              </a:defRPr>
            </a:lvl2pPr>
            <a:lvl3pPr algn="l">
              <a:defRPr sz="750" b="1">
                <a:solidFill>
                  <a:srgbClr val="81908B"/>
                </a:solidFill>
                <a:latin typeface="Arial"/>
                <a:ea typeface="Arial"/>
                <a:cs typeface="Arial"/>
              </a:defRPr>
            </a:lvl3pPr>
            <a:lvl4pPr algn="l">
              <a:defRPr sz="750" b="1">
                <a:solidFill>
                  <a:srgbClr val="81908B"/>
                </a:solidFill>
                <a:latin typeface="Arial"/>
                <a:ea typeface="Arial"/>
                <a:cs typeface="Arial"/>
              </a:defRPr>
            </a:lvl4pPr>
            <a:lvl5pPr algn="l">
              <a:defRPr sz="750" b="1">
                <a:solidFill>
                  <a:srgbClr val="81908B"/>
                </a:solidFill>
                <a:latin typeface="Arial"/>
                <a:ea typeface="Arial"/>
                <a:cs typeface="Arial"/>
              </a:defRPr>
            </a:lvl5pPr>
            <a:lvl6pPr algn="l">
              <a:defRPr sz="750" b="1">
                <a:solidFill>
                  <a:srgbClr val="81908B"/>
                </a:solidFill>
                <a:latin typeface="Arial"/>
                <a:ea typeface="Arial"/>
                <a:cs typeface="Arial"/>
              </a:defRPr>
            </a:lvl6pPr>
            <a:lvl7pPr algn="l">
              <a:defRPr sz="750" b="1">
                <a:solidFill>
                  <a:srgbClr val="81908B"/>
                </a:solidFill>
                <a:latin typeface="Arial"/>
                <a:ea typeface="Arial"/>
                <a:cs typeface="Arial"/>
              </a:defRPr>
            </a:lvl7pPr>
            <a:lvl8pPr algn="l">
              <a:defRPr sz="750" b="1">
                <a:solidFill>
                  <a:srgbClr val="81908B"/>
                </a:solidFill>
                <a:latin typeface="Arial"/>
                <a:ea typeface="Arial"/>
                <a:cs typeface="Arial"/>
              </a:defRPr>
            </a:lvl8pPr>
            <a:lvl9pPr algn="l">
              <a:defRPr sz="750" b="1">
                <a:solidFill>
                  <a:srgbClr val="8190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750" b="1">
                <a:solidFill>
                  <a:srgbClr val="81908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81908B"/>
                </a:solidFill>
                <a:latin typeface="Arial"/>
                <a:ea typeface="Arial"/>
                <a:cs typeface="Arial"/>
              </a:rPr>
              <a:t>SAFESPACE  ·  ACTIVIDAD 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0BB3AD-9F4B-4EC3-923D-CE6E39407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81908B"/>
                </a:solidFill>
                <a:latin typeface="Arial"/>
                <a:ea typeface="Arial"/>
                <a:cs typeface="Arial"/>
              </a:defRPr>
            </a:defPPr>
            <a:lvl1pPr algn="r">
              <a:defRPr sz="825" b="1">
                <a:solidFill>
                  <a:srgbClr val="81908B"/>
                </a:solidFill>
                <a:latin typeface="Arial"/>
                <a:ea typeface="Arial"/>
                <a:cs typeface="Arial"/>
              </a:defRPr>
            </a:lvl1pPr>
            <a:lvl2pPr algn="r">
              <a:defRPr sz="825" b="1">
                <a:solidFill>
                  <a:srgbClr val="81908B"/>
                </a:solidFill>
                <a:latin typeface="Arial"/>
                <a:ea typeface="Arial"/>
                <a:cs typeface="Arial"/>
              </a:defRPr>
            </a:lvl2pPr>
            <a:lvl3pPr algn="r">
              <a:defRPr sz="825" b="1">
                <a:solidFill>
                  <a:srgbClr val="81908B"/>
                </a:solidFill>
                <a:latin typeface="Arial"/>
                <a:ea typeface="Arial"/>
                <a:cs typeface="Arial"/>
              </a:defRPr>
            </a:lvl3pPr>
            <a:lvl4pPr algn="r">
              <a:defRPr sz="825" b="1">
                <a:solidFill>
                  <a:srgbClr val="81908B"/>
                </a:solidFill>
                <a:latin typeface="Arial"/>
                <a:ea typeface="Arial"/>
                <a:cs typeface="Arial"/>
              </a:defRPr>
            </a:lvl4pPr>
            <a:lvl5pPr algn="r">
              <a:defRPr sz="825" b="1">
                <a:solidFill>
                  <a:srgbClr val="81908B"/>
                </a:solidFill>
                <a:latin typeface="Arial"/>
                <a:ea typeface="Arial"/>
                <a:cs typeface="Arial"/>
              </a:defRPr>
            </a:lvl5pPr>
            <a:lvl6pPr algn="r">
              <a:defRPr sz="825" b="1">
                <a:solidFill>
                  <a:srgbClr val="81908B"/>
                </a:solidFill>
                <a:latin typeface="Arial"/>
                <a:ea typeface="Arial"/>
                <a:cs typeface="Arial"/>
              </a:defRPr>
            </a:lvl6pPr>
            <a:lvl7pPr algn="r">
              <a:defRPr sz="825" b="1">
                <a:solidFill>
                  <a:srgbClr val="81908B"/>
                </a:solidFill>
                <a:latin typeface="Arial"/>
                <a:ea typeface="Arial"/>
                <a:cs typeface="Arial"/>
              </a:defRPr>
            </a:lvl7pPr>
            <a:lvl8pPr algn="r">
              <a:defRPr sz="825" b="1">
                <a:solidFill>
                  <a:srgbClr val="81908B"/>
                </a:solidFill>
                <a:latin typeface="Arial"/>
                <a:ea typeface="Arial"/>
                <a:cs typeface="Arial"/>
              </a:defRPr>
            </a:lvl8pPr>
            <a:lvl9pPr algn="r">
              <a:defRPr sz="825" b="1">
                <a:solidFill>
                  <a:srgbClr val="8190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81908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1908B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36464093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A9C6D58-7867-4FE0-A7E0-8BA41C45B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72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825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7645F"/>
                </a:solidFill>
                <a:latin typeface="Arial"/>
                <a:ea typeface="Arial"/>
                <a:cs typeface="Arial"/>
              </a:rPr>
              <a:t>06 · REVISIÓN PRELIMINAR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7E824D-6E45-4C24-8E8A-D444A3D67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810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43743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143743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143743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143743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143743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143743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143743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143743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143743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1437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437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3743"/>
                </a:solidFill>
                <a:latin typeface="Arial"/>
                <a:ea typeface="Arial"/>
                <a:cs typeface="Arial"/>
              </a:rPr>
              <a:t>Problemas detectados y mejoras propuestas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1DC6EF-D2AE-4F80-8D48-54A726FD0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2877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BD6544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BD6544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BD6544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BD6544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BD6544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BD6544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BD6544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BD6544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BD6544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BD65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BD654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D6544"/>
                </a:solidFill>
                <a:latin typeface="Arial"/>
                <a:ea typeface="Arial"/>
                <a:cs typeface="Arial"/>
              </a:rPr>
              <a:t>Observaciones del prototipo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5B6AD2-E799-48EF-979B-31CFA10C6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28775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645F"/>
                </a:solidFill>
                <a:latin typeface="Arial"/>
                <a:ea typeface="Arial"/>
                <a:cs typeface="Arial"/>
              </a:rPr>
              <a:t>Mejoras para la siguiente versión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0EDFD2-3A87-4559-8C1B-1E1E45CCA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19250"/>
            <a:ext cx="19050" cy="376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628EE9-0FAB-44BD-AD5E-74BA156FB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BD6544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BD6544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BD6544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BD6544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BD6544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BD6544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BD6544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BD6544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BD6544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BD65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BD654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D654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24FC33-375B-431D-87B5-EDD8DE64B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095500"/>
            <a:ext cx="4286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143743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143743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143743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143743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143743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143743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143743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143743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143743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1437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14374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43743"/>
                </a:solidFill>
                <a:latin typeface="Arial"/>
                <a:ea typeface="Arial"/>
                <a:cs typeface="Arial"/>
              </a:rPr>
              <a:t>No hay pruebas con usuarios; las necesidades siguen como hipótesis.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534E43-F0C7-4EDC-B313-5F5BE705C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955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7645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9C5C25-ECF4-4B3D-BE94-8EBB420B4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2095500"/>
            <a:ext cx="442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143743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143743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143743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143743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143743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143743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143743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143743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143743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1437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14374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43743"/>
                </a:solidFill>
                <a:latin typeface="Arial"/>
                <a:ea typeface="Arial"/>
                <a:cs typeface="Arial"/>
              </a:rPr>
              <a:t>Probar tareas con estudiantes voluntarios y corregir según sus dudas.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1A3D31-EDF9-4C35-A95A-1B006D50A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146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BD6544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BD6544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BD6544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BD6544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BD6544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BD6544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BD6544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BD6544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BD6544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BD65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BD654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D654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41125D-2676-4394-95D2-B8471EEA5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914650"/>
            <a:ext cx="4286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143743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143743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143743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143743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143743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143743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143743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143743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143743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1437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14374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43743"/>
                </a:solidFill>
                <a:latin typeface="Arial"/>
                <a:ea typeface="Arial"/>
                <a:cs typeface="Arial"/>
              </a:rPr>
              <a:t>El formulario y las guías son demostrativos; no hay servicios conectados.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834D9F-1FBB-4CF9-A15B-802B6E449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9146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7645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7DB529-07AE-4892-A9F2-7EA8CDCDE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2914650"/>
            <a:ext cx="442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143743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143743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143743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143743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143743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143743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143743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143743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143743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1437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14374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43743"/>
                </a:solidFill>
                <a:latin typeface="Arial"/>
                <a:ea typeface="Arial"/>
                <a:cs typeface="Arial"/>
              </a:rPr>
              <a:t>Verificar contenido con orientación educativa antes de conectar servicios.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101E5A-939E-45E9-AD60-03C250A99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338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BD6544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BD6544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BD6544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BD6544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BD6544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BD6544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BD6544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BD6544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BD6544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BD65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BD654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D654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D0292F-727F-4533-B3E7-A9D5F1479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733800"/>
            <a:ext cx="4286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143743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143743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143743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143743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143743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143743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143743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143743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143743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1437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14374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43743"/>
                </a:solidFill>
                <a:latin typeface="Arial"/>
                <a:ea typeface="Arial"/>
                <a:cs typeface="Arial"/>
              </a:rPr>
              <a:t>Falta definir el consentimiento y el acceso real a datos sensibles.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B3310D-4A8B-4CA5-BD2D-5F30B1E84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7338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7645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0C2103-F72F-464D-BAF6-8C02BE457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3733800"/>
            <a:ext cx="442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143743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143743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143743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143743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143743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143743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143743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143743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143743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1437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14374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43743"/>
                </a:solidFill>
                <a:latin typeface="Arial"/>
                <a:ea typeface="Arial"/>
                <a:cs typeface="Arial"/>
              </a:rPr>
              <a:t>Pedir el mínimo de datos y explicar por separado qué se comparte.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80AAD9-4F5F-485B-B24A-12EEC0BAE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529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BD6544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BD6544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BD6544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BD6544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BD6544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BD6544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BD6544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BD6544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BD6544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BD65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BD654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D6544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859671-B32F-4F8B-B599-DEC5ABB73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552950"/>
            <a:ext cx="4286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143743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143743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143743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143743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143743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143743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143743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143743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143743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1437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14374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43743"/>
                </a:solidFill>
                <a:latin typeface="Arial"/>
                <a:ea typeface="Arial"/>
                <a:cs typeface="Arial"/>
              </a:rPr>
              <a:t>Directorio, trámites y ruta de urgencia requieren validación institucional.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970B3B-E2B4-413B-9A28-376F65005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5529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7645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C208B9-7319-400F-B09F-500B90141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4552950"/>
            <a:ext cx="442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143743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143743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143743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143743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143743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143743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143743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143743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143743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1437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14374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43743"/>
                </a:solidFill>
                <a:latin typeface="Arial"/>
                <a:ea typeface="Arial"/>
                <a:cs typeface="Arial"/>
              </a:rPr>
              <a:t>Definir una ruta de ayuda segura, actualizada y sin prometer monitoreo.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C65FE3-5F9E-4637-83E7-261D9CEE2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81650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607572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607572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607572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607572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607572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607572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607572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607572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607572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6075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60757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07572"/>
                </a:solidFill>
                <a:latin typeface="Arial"/>
                <a:ea typeface="Arial"/>
                <a:cs typeface="Arial"/>
              </a:rPr>
              <a:t>Revisión de diseño, no resultados de una prueba de usabilidad.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9A78685-E29D-4FC4-9761-F374AF3EC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750" b="1">
                <a:solidFill>
                  <a:srgbClr val="81908B"/>
                </a:solidFill>
                <a:latin typeface="Arial"/>
                <a:ea typeface="Arial"/>
                <a:cs typeface="Arial"/>
              </a:defRPr>
            </a:defPPr>
            <a:lvl1pPr algn="l">
              <a:defRPr sz="750" b="1">
                <a:solidFill>
                  <a:srgbClr val="81908B"/>
                </a:solidFill>
                <a:latin typeface="Arial"/>
                <a:ea typeface="Arial"/>
                <a:cs typeface="Arial"/>
              </a:defRPr>
            </a:lvl1pPr>
            <a:lvl2pPr algn="l">
              <a:defRPr sz="750" b="1">
                <a:solidFill>
                  <a:srgbClr val="81908B"/>
                </a:solidFill>
                <a:latin typeface="Arial"/>
                <a:ea typeface="Arial"/>
                <a:cs typeface="Arial"/>
              </a:defRPr>
            </a:lvl2pPr>
            <a:lvl3pPr algn="l">
              <a:defRPr sz="750" b="1">
                <a:solidFill>
                  <a:srgbClr val="81908B"/>
                </a:solidFill>
                <a:latin typeface="Arial"/>
                <a:ea typeface="Arial"/>
                <a:cs typeface="Arial"/>
              </a:defRPr>
            </a:lvl3pPr>
            <a:lvl4pPr algn="l">
              <a:defRPr sz="750" b="1">
                <a:solidFill>
                  <a:srgbClr val="81908B"/>
                </a:solidFill>
                <a:latin typeface="Arial"/>
                <a:ea typeface="Arial"/>
                <a:cs typeface="Arial"/>
              </a:defRPr>
            </a:lvl4pPr>
            <a:lvl5pPr algn="l">
              <a:defRPr sz="750" b="1">
                <a:solidFill>
                  <a:srgbClr val="81908B"/>
                </a:solidFill>
                <a:latin typeface="Arial"/>
                <a:ea typeface="Arial"/>
                <a:cs typeface="Arial"/>
              </a:defRPr>
            </a:lvl5pPr>
            <a:lvl6pPr algn="l">
              <a:defRPr sz="750" b="1">
                <a:solidFill>
                  <a:srgbClr val="81908B"/>
                </a:solidFill>
                <a:latin typeface="Arial"/>
                <a:ea typeface="Arial"/>
                <a:cs typeface="Arial"/>
              </a:defRPr>
            </a:lvl6pPr>
            <a:lvl7pPr algn="l">
              <a:defRPr sz="750" b="1">
                <a:solidFill>
                  <a:srgbClr val="81908B"/>
                </a:solidFill>
                <a:latin typeface="Arial"/>
                <a:ea typeface="Arial"/>
                <a:cs typeface="Arial"/>
              </a:defRPr>
            </a:lvl7pPr>
            <a:lvl8pPr algn="l">
              <a:defRPr sz="750" b="1">
                <a:solidFill>
                  <a:srgbClr val="81908B"/>
                </a:solidFill>
                <a:latin typeface="Arial"/>
                <a:ea typeface="Arial"/>
                <a:cs typeface="Arial"/>
              </a:defRPr>
            </a:lvl8pPr>
            <a:lvl9pPr algn="l">
              <a:defRPr sz="750" b="1">
                <a:solidFill>
                  <a:srgbClr val="8190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750" b="1">
                <a:solidFill>
                  <a:srgbClr val="81908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81908B"/>
                </a:solidFill>
                <a:latin typeface="Arial"/>
                <a:ea typeface="Arial"/>
                <a:cs typeface="Arial"/>
              </a:rPr>
              <a:t>SAFESPACE  ·  ACTIVIDAD 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66768F5-F993-4AFE-910A-5B2493C22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81908B"/>
                </a:solidFill>
                <a:latin typeface="Arial"/>
                <a:ea typeface="Arial"/>
                <a:cs typeface="Arial"/>
              </a:defRPr>
            </a:defPPr>
            <a:lvl1pPr algn="r">
              <a:defRPr sz="825" b="1">
                <a:solidFill>
                  <a:srgbClr val="81908B"/>
                </a:solidFill>
                <a:latin typeface="Arial"/>
                <a:ea typeface="Arial"/>
                <a:cs typeface="Arial"/>
              </a:defRPr>
            </a:lvl1pPr>
            <a:lvl2pPr algn="r">
              <a:defRPr sz="825" b="1">
                <a:solidFill>
                  <a:srgbClr val="81908B"/>
                </a:solidFill>
                <a:latin typeface="Arial"/>
                <a:ea typeface="Arial"/>
                <a:cs typeface="Arial"/>
              </a:defRPr>
            </a:lvl2pPr>
            <a:lvl3pPr algn="r">
              <a:defRPr sz="825" b="1">
                <a:solidFill>
                  <a:srgbClr val="81908B"/>
                </a:solidFill>
                <a:latin typeface="Arial"/>
                <a:ea typeface="Arial"/>
                <a:cs typeface="Arial"/>
              </a:defRPr>
            </a:lvl3pPr>
            <a:lvl4pPr algn="r">
              <a:defRPr sz="825" b="1">
                <a:solidFill>
                  <a:srgbClr val="81908B"/>
                </a:solidFill>
                <a:latin typeface="Arial"/>
                <a:ea typeface="Arial"/>
                <a:cs typeface="Arial"/>
              </a:defRPr>
            </a:lvl4pPr>
            <a:lvl5pPr algn="r">
              <a:defRPr sz="825" b="1">
                <a:solidFill>
                  <a:srgbClr val="81908B"/>
                </a:solidFill>
                <a:latin typeface="Arial"/>
                <a:ea typeface="Arial"/>
                <a:cs typeface="Arial"/>
              </a:defRPr>
            </a:lvl5pPr>
            <a:lvl6pPr algn="r">
              <a:defRPr sz="825" b="1">
                <a:solidFill>
                  <a:srgbClr val="81908B"/>
                </a:solidFill>
                <a:latin typeface="Arial"/>
                <a:ea typeface="Arial"/>
                <a:cs typeface="Arial"/>
              </a:defRPr>
            </a:lvl6pPr>
            <a:lvl7pPr algn="r">
              <a:defRPr sz="825" b="1">
                <a:solidFill>
                  <a:srgbClr val="81908B"/>
                </a:solidFill>
                <a:latin typeface="Arial"/>
                <a:ea typeface="Arial"/>
                <a:cs typeface="Arial"/>
              </a:defRPr>
            </a:lvl7pPr>
            <a:lvl8pPr algn="r">
              <a:defRPr sz="825" b="1">
                <a:solidFill>
                  <a:srgbClr val="81908B"/>
                </a:solidFill>
                <a:latin typeface="Arial"/>
                <a:ea typeface="Arial"/>
                <a:cs typeface="Arial"/>
              </a:defRPr>
            </a:lvl8pPr>
            <a:lvl9pPr algn="r">
              <a:defRPr sz="825" b="1">
                <a:solidFill>
                  <a:srgbClr val="8190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81908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1908B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56419342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437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5129AA-6D75-4A95-901D-8079FBC79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825" b="1">
                <a:solidFill>
                  <a:srgbClr val="A6C9BD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>
                <a:solidFill>
                  <a:srgbClr val="A6C9BD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>
                <a:solidFill>
                  <a:srgbClr val="A6C9BD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>
                <a:solidFill>
                  <a:srgbClr val="A6C9BD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>
                <a:solidFill>
                  <a:srgbClr val="A6C9BD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>
                <a:solidFill>
                  <a:srgbClr val="A6C9BD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>
                <a:solidFill>
                  <a:srgbClr val="A6C9BD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>
                <a:solidFill>
                  <a:srgbClr val="A6C9BD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>
                <a:solidFill>
                  <a:srgbClr val="A6C9BD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>
                <a:solidFill>
                  <a:srgbClr val="A6C9B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A6C9B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A6C9BD"/>
                </a:solidFill>
                <a:latin typeface="Arial"/>
                <a:ea typeface="Arial"/>
                <a:cs typeface="Arial"/>
              </a:rPr>
              <a:t>07 · CONCLUSIONES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0F36A0-AD8A-41F0-92F0-B3F85CB61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666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Conclusiones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AAC293-7CC9-4249-B349-B05AD8643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A6C9BD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A6C9BD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A6C9BD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A6C9BD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A6C9BD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A6C9BD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A6C9BD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A6C9BD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A6C9BD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A6C9B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A6C9B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A6C9BD"/>
                </a:solidFill>
                <a:latin typeface="Arial"/>
                <a:ea typeface="Arial"/>
                <a:cs typeface="Arial"/>
              </a:rPr>
              <a:t>SafeSpace hace visible un siguiente paso.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BCE41A-C15E-40C7-9B68-24CD190A9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9850"/>
            <a:ext cx="628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D0DED8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D0DED8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D0DED8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D0DED8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D0DED8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D0DED8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D0DED8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D0DED8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D0DED8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D0DED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D0DED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D0DED8"/>
                </a:solidFill>
                <a:latin typeface="Arial"/>
                <a:ea typeface="Arial"/>
                <a:cs typeface="Arial"/>
              </a:rPr>
              <a:t>El prototipo reúne organización escolar, guías y contacto voluntario con orientación en una interfaz clara y responsiva.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A8CEBD-3BE2-4844-947A-98E01A3F5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70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3D4A25-F0EE-4ADE-8E85-305D81931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3862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F4C3A6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F4C3A6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F4C3A6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F4C3A6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F4C3A6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F4C3A6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F4C3A6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F4C3A6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F4C3A6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F4C3A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F4C3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4C3A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D3C21B-BEDD-46E2-BA7B-A3D9DEAB9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0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El diseño atiende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9F4064-453C-47E5-B899-E59067E17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3950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C2D1CD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C2D1CD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C2D1CD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C2D1CD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C2D1CD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C2D1CD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C2D1CD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C2D1CD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C2D1CD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C2D1C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C2D1C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C2D1CD"/>
                </a:solidFill>
                <a:latin typeface="Arial"/>
                <a:ea typeface="Arial"/>
                <a:cs typeface="Arial"/>
              </a:rPr>
              <a:t>La necesidad de claridad y organización en momentos difíciles.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702A5A-6F39-4BD8-B755-9B0090BE5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23862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F4C3A6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F4C3A6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F4C3A6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F4C3A6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F4C3A6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F4C3A6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F4C3A6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F4C3A6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F4C3A6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F4C3A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F4C3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4C3A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6EB5D3-D617-41E1-9A3E-EC580EAD5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572000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La privacidad importa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4F8439-C646-4FEC-BE3B-60627EFC7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933950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C2D1CD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C2D1CD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C2D1CD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C2D1CD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C2D1CD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C2D1CD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C2D1CD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C2D1CD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C2D1CD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C2D1C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C2D1C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C2D1CD"/>
                </a:solidFill>
                <a:latin typeface="Arial"/>
                <a:ea typeface="Arial"/>
                <a:cs typeface="Arial"/>
              </a:rPr>
              <a:t>La ayuda debe ser voluntaria y explicar qué datos se comparten.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55DCA1-FB7B-4C96-AE65-40FFBBFAF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23862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F4C3A6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F4C3A6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F4C3A6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F4C3A6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F4C3A6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F4C3A6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F4C3A6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F4C3A6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F4C3A6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F4C3A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F4C3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4C3A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1A18A1-4E2F-43EB-9706-040BBA248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572000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Falta validar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A6CA22-7275-4157-8B50-52479990A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933950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C2D1CD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C2D1CD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C2D1CD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C2D1CD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C2D1CD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C2D1CD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C2D1CD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C2D1CD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C2D1CD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C2D1C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C2D1C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C2D1CD"/>
                </a:solidFill>
                <a:latin typeface="Arial"/>
                <a:ea typeface="Arial"/>
                <a:cs typeface="Arial"/>
              </a:rPr>
              <a:t>Probar el prototipo con estudiantes y personal de orientación.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3AFC66-6278-40E2-8F70-5AE425CE5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47750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DCEC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12A0A3-8565-4B71-BB1C-2F6D97530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34075"/>
            <a:ext cx="1009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143743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143743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143743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143743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143743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143743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143743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143743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143743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1437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14374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43743"/>
                </a:solidFill>
                <a:latin typeface="Arial"/>
                <a:ea typeface="Arial"/>
                <a:cs typeface="Arial"/>
              </a:rPr>
              <a:t>Siguiente paso: validar las tareas principales y ajustar el prototipo con evidencia de usuarios.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A7ED22-FE82-4391-B146-ED2AE013A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750" b="1">
                <a:solidFill>
                  <a:srgbClr val="C2D1CD"/>
                </a:solidFill>
                <a:latin typeface="Arial"/>
                <a:ea typeface="Arial"/>
                <a:cs typeface="Arial"/>
              </a:defRPr>
            </a:defPPr>
            <a:lvl1pPr algn="l">
              <a:defRPr sz="750" b="1">
                <a:solidFill>
                  <a:srgbClr val="C2D1CD"/>
                </a:solidFill>
                <a:latin typeface="Arial"/>
                <a:ea typeface="Arial"/>
                <a:cs typeface="Arial"/>
              </a:defRPr>
            </a:lvl1pPr>
            <a:lvl2pPr algn="l">
              <a:defRPr sz="750" b="1">
                <a:solidFill>
                  <a:srgbClr val="C2D1CD"/>
                </a:solidFill>
                <a:latin typeface="Arial"/>
                <a:ea typeface="Arial"/>
                <a:cs typeface="Arial"/>
              </a:defRPr>
            </a:lvl2pPr>
            <a:lvl3pPr algn="l">
              <a:defRPr sz="750" b="1">
                <a:solidFill>
                  <a:srgbClr val="C2D1CD"/>
                </a:solidFill>
                <a:latin typeface="Arial"/>
                <a:ea typeface="Arial"/>
                <a:cs typeface="Arial"/>
              </a:defRPr>
            </a:lvl3pPr>
            <a:lvl4pPr algn="l">
              <a:defRPr sz="750" b="1">
                <a:solidFill>
                  <a:srgbClr val="C2D1CD"/>
                </a:solidFill>
                <a:latin typeface="Arial"/>
                <a:ea typeface="Arial"/>
                <a:cs typeface="Arial"/>
              </a:defRPr>
            </a:lvl4pPr>
            <a:lvl5pPr algn="l">
              <a:defRPr sz="750" b="1">
                <a:solidFill>
                  <a:srgbClr val="C2D1CD"/>
                </a:solidFill>
                <a:latin typeface="Arial"/>
                <a:ea typeface="Arial"/>
                <a:cs typeface="Arial"/>
              </a:defRPr>
            </a:lvl5pPr>
            <a:lvl6pPr algn="l">
              <a:defRPr sz="750" b="1">
                <a:solidFill>
                  <a:srgbClr val="C2D1CD"/>
                </a:solidFill>
                <a:latin typeface="Arial"/>
                <a:ea typeface="Arial"/>
                <a:cs typeface="Arial"/>
              </a:defRPr>
            </a:lvl6pPr>
            <a:lvl7pPr algn="l">
              <a:defRPr sz="750" b="1">
                <a:solidFill>
                  <a:srgbClr val="C2D1CD"/>
                </a:solidFill>
                <a:latin typeface="Arial"/>
                <a:ea typeface="Arial"/>
                <a:cs typeface="Arial"/>
              </a:defRPr>
            </a:lvl7pPr>
            <a:lvl8pPr algn="l">
              <a:defRPr sz="750" b="1">
                <a:solidFill>
                  <a:srgbClr val="C2D1CD"/>
                </a:solidFill>
                <a:latin typeface="Arial"/>
                <a:ea typeface="Arial"/>
                <a:cs typeface="Arial"/>
              </a:defRPr>
            </a:lvl8pPr>
            <a:lvl9pPr algn="l">
              <a:defRPr sz="750" b="1">
                <a:solidFill>
                  <a:srgbClr val="C2D1C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750" b="1">
                <a:solidFill>
                  <a:srgbClr val="C2D1CD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C2D1CD"/>
                </a:solidFill>
                <a:latin typeface="Arial"/>
                <a:ea typeface="Arial"/>
                <a:cs typeface="Arial"/>
              </a:rPr>
              <a:t>SAFESPACE  ·  ACTIVIDAD 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9AA635-1AE4-44D4-A997-6543E6DE9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C2D1CD"/>
                </a:solidFill>
                <a:latin typeface="Arial"/>
                <a:ea typeface="Arial"/>
                <a:cs typeface="Arial"/>
              </a:defRPr>
            </a:defPPr>
            <a:lvl1pPr algn="r">
              <a:defRPr sz="825" b="1">
                <a:solidFill>
                  <a:srgbClr val="C2D1CD"/>
                </a:solidFill>
                <a:latin typeface="Arial"/>
                <a:ea typeface="Arial"/>
                <a:cs typeface="Arial"/>
              </a:defRPr>
            </a:lvl1pPr>
            <a:lvl2pPr algn="r">
              <a:defRPr sz="825" b="1">
                <a:solidFill>
                  <a:srgbClr val="C2D1CD"/>
                </a:solidFill>
                <a:latin typeface="Arial"/>
                <a:ea typeface="Arial"/>
                <a:cs typeface="Arial"/>
              </a:defRPr>
            </a:lvl2pPr>
            <a:lvl3pPr algn="r">
              <a:defRPr sz="825" b="1">
                <a:solidFill>
                  <a:srgbClr val="C2D1CD"/>
                </a:solidFill>
                <a:latin typeface="Arial"/>
                <a:ea typeface="Arial"/>
                <a:cs typeface="Arial"/>
              </a:defRPr>
            </a:lvl3pPr>
            <a:lvl4pPr algn="r">
              <a:defRPr sz="825" b="1">
                <a:solidFill>
                  <a:srgbClr val="C2D1CD"/>
                </a:solidFill>
                <a:latin typeface="Arial"/>
                <a:ea typeface="Arial"/>
                <a:cs typeface="Arial"/>
              </a:defRPr>
            </a:lvl4pPr>
            <a:lvl5pPr algn="r">
              <a:defRPr sz="825" b="1">
                <a:solidFill>
                  <a:srgbClr val="C2D1CD"/>
                </a:solidFill>
                <a:latin typeface="Arial"/>
                <a:ea typeface="Arial"/>
                <a:cs typeface="Arial"/>
              </a:defRPr>
            </a:lvl5pPr>
            <a:lvl6pPr algn="r">
              <a:defRPr sz="825" b="1">
                <a:solidFill>
                  <a:srgbClr val="C2D1CD"/>
                </a:solidFill>
                <a:latin typeface="Arial"/>
                <a:ea typeface="Arial"/>
                <a:cs typeface="Arial"/>
              </a:defRPr>
            </a:lvl6pPr>
            <a:lvl7pPr algn="r">
              <a:defRPr sz="825" b="1">
                <a:solidFill>
                  <a:srgbClr val="C2D1CD"/>
                </a:solidFill>
                <a:latin typeface="Arial"/>
                <a:ea typeface="Arial"/>
                <a:cs typeface="Arial"/>
              </a:defRPr>
            </a:lvl7pPr>
            <a:lvl8pPr algn="r">
              <a:defRPr sz="825" b="1">
                <a:solidFill>
                  <a:srgbClr val="C2D1CD"/>
                </a:solidFill>
                <a:latin typeface="Arial"/>
                <a:ea typeface="Arial"/>
                <a:cs typeface="Arial"/>
              </a:defRPr>
            </a:lvl8pPr>
            <a:lvl9pPr algn="r">
              <a:defRPr sz="825" b="1">
                <a:solidFill>
                  <a:srgbClr val="C2D1C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C2D1C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C2D1CD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13284259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2026-10-27T07:15:43.1180000Z</dcterms:created>
  <dcterms:modified xsi:type="dcterms:W3CDTF">2026-10-27T07:15:43.1180000Z</dcterms:modified>
</coreProperties>
</file>